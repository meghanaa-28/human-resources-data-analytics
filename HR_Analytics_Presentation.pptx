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81" r:id="rId3"/>
    <p:sldId id="257" r:id="rId4"/>
    <p:sldId id="258" r:id="rId5"/>
    <p:sldId id="259" r:id="rId6"/>
    <p:sldId id="260" r:id="rId7"/>
    <p:sldId id="261" r:id="rId8"/>
    <p:sldId id="271" r:id="rId9"/>
    <p:sldId id="270" r:id="rId10"/>
    <p:sldId id="263" r:id="rId11"/>
    <p:sldId id="264" r:id="rId12"/>
    <p:sldId id="272" r:id="rId13"/>
    <p:sldId id="273" r:id="rId14"/>
    <p:sldId id="265" r:id="rId15"/>
    <p:sldId id="274" r:id="rId16"/>
    <p:sldId id="276" r:id="rId17"/>
    <p:sldId id="277" r:id="rId18"/>
    <p:sldId id="278" r:id="rId19"/>
    <p:sldId id="279" r:id="rId20"/>
    <p:sldId id="280" r:id="rId21"/>
    <p:sldId id="269"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7" d="100"/>
          <a:sy n="107" d="100"/>
        </p:scale>
        <p:origin x="10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6676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1841B-12E5-7A09-F12B-39826C96A2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D21AC2-9B51-8A52-8722-04CDB253E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F688C2-8C03-9E7C-241D-847F61ABFD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4B7152-9E30-A9BC-9308-D300708C41F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770397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CA71C-AA44-C132-07B3-2BF2D8CAB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E1F25-0A68-B80F-3C53-CAD6212D0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970E28-C90D-4C6C-9990-0950DF6B7E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7CB54D-A249-4402-C084-052C13C5755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2210916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FC06D-B3A7-B4FA-0BA2-D8AFBF086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5F193-42CB-4C66-F95D-FE8411BB9B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6DC6A-42DE-532B-1FAA-BBD838C62A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ACDE1B-9192-69E0-30BF-880760D4212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9144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E045B-D459-A727-789F-DB030723C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2B4A25-66CD-7DC4-C788-6D028100E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35B7BC-573A-0AD1-9A5E-95874E39A2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AD59D5-C929-0F93-56E0-79CC1A8A7A9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017630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A44C2-FBFD-56E3-2316-052ED04CCC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D7BD7-CAC0-FB7F-0268-A212EF6931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078836-25BC-219B-7772-EF36915E93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10104E-4B7E-E228-FEB6-345A8D14CEBD}"/>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1488763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8B19C-68A9-E885-2CB5-5579B46637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32B5C0-6122-1175-A668-6A13FC1B2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7F6E42-4388-2F88-1625-50FC673B7C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F249FD-4B62-F104-6660-BEA877A25886}"/>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8075335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D8A13-3D83-7608-FB0D-EE406C329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ADDA9-633C-5B3B-D51F-D1994C7C2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878EC-4B56-85B0-FBAF-AB1892FD7D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005EF-12FA-F1A5-BA95-68B380DC4AEA}"/>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9206175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FC63D-A8D2-342F-8024-3E93C7D852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4FB151-C959-43BC-650E-758C8E8A4A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E96E6-2AB0-A8CA-4AAC-B2F2158491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50E854-B1D5-6368-F3C8-E3F719BC4B1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525694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5FDCC-7B12-9052-9711-607F9916EC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82CD54-F1B2-A3D3-45F2-4CCE0E17C8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660CF0-48C2-6F12-5D26-837CBA4BE1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64D8BC-EEF7-F3C1-74ED-52D1A9626F20}"/>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207666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9EC8B-24A4-28B6-4162-CAB8371606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85C44-296E-A389-73E3-3B40FE5F1A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5ED474-8427-26E6-77A7-0E0B8541DA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69521B-D15C-922B-68BB-6F162A769217}"/>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8259443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5B2D8E">
              <a:alpha val="40000"/>
            </a:srgbClr>
          </a:solidFill>
          <a:ln w="12700">
            <a:solidFill>
              <a:srgbClr val="5B2D8E">
                <a:alpha val="40000"/>
              </a:srgbClr>
            </a:solidFill>
            <a:prstDash val="solid"/>
          </a:ln>
        </p:spPr>
        <p:txBody>
          <a:bodyPr/>
          <a:lstStyle/>
          <a:p>
            <a:endParaRPr lang="en-IN"/>
          </a:p>
        </p:txBody>
      </p:sp>
      <p:sp>
        <p:nvSpPr>
          <p:cNvPr id="3" name="Shape 1"/>
          <p:cNvSpPr/>
          <p:nvPr/>
        </p:nvSpPr>
        <p:spPr>
          <a:xfrm>
            <a:off x="7772400" y="-457200"/>
            <a:ext cx="3200400" cy="3200400"/>
          </a:xfrm>
          <a:prstGeom prst="ellipse">
            <a:avLst/>
          </a:prstGeom>
          <a:solidFill>
            <a:srgbClr val="7B2FBE">
              <a:alpha val="50000"/>
            </a:srgbClr>
          </a:solidFill>
          <a:ln w="12700">
            <a:solidFill>
              <a:srgbClr val="7B2FBE">
                <a:alpha val="50000"/>
              </a:srgbClr>
            </a:solidFill>
            <a:prstDash val="solid"/>
          </a:ln>
        </p:spPr>
        <p:txBody>
          <a:bodyPr/>
          <a:lstStyle/>
          <a:p>
            <a:endParaRPr lang="en-IN"/>
          </a:p>
        </p:txBody>
      </p:sp>
      <p:sp>
        <p:nvSpPr>
          <p:cNvPr id="4" name="Shape 2"/>
          <p:cNvSpPr/>
          <p:nvPr/>
        </p:nvSpPr>
        <p:spPr>
          <a:xfrm>
            <a:off x="-731520" y="3474720"/>
            <a:ext cx="2743200" cy="2743200"/>
          </a:xfrm>
          <a:prstGeom prst="ellipse">
            <a:avLst/>
          </a:prstGeom>
          <a:solidFill>
            <a:srgbClr val="3D1A7F">
              <a:alpha val="50000"/>
            </a:srgbClr>
          </a:solidFill>
          <a:ln w="12700">
            <a:solidFill>
              <a:srgbClr val="3D1A7F">
                <a:alpha val="50000"/>
              </a:srgbClr>
            </a:solidFill>
            <a:prstDash val="solid"/>
          </a:ln>
        </p:spPr>
        <p:txBody>
          <a:bodyPr/>
          <a:lstStyle/>
          <a:p>
            <a:endParaRPr lang="en-IN"/>
          </a:p>
        </p:txBody>
      </p:sp>
      <p:sp>
        <p:nvSpPr>
          <p:cNvPr id="5" name="Shape 3"/>
          <p:cNvSpPr/>
          <p:nvPr/>
        </p:nvSpPr>
        <p:spPr>
          <a:xfrm>
            <a:off x="548640" y="1188720"/>
            <a:ext cx="64008" cy="2560320"/>
          </a:xfrm>
          <a:prstGeom prst="rect">
            <a:avLst/>
          </a:prstGeom>
          <a:solidFill>
            <a:srgbClr val="FFD700"/>
          </a:solidFill>
          <a:ln w="12700">
            <a:solidFill>
              <a:srgbClr val="FFD700"/>
            </a:solidFill>
            <a:prstDash val="solid"/>
          </a:ln>
        </p:spPr>
        <p:txBody>
          <a:bodyPr/>
          <a:lstStyle/>
          <a:p>
            <a:endParaRPr lang="en-IN"/>
          </a:p>
        </p:txBody>
      </p:sp>
      <p:sp>
        <p:nvSpPr>
          <p:cNvPr id="6" name="Text 4"/>
          <p:cNvSpPr/>
          <p:nvPr/>
        </p:nvSpPr>
        <p:spPr>
          <a:xfrm>
            <a:off x="777240" y="1097280"/>
            <a:ext cx="6400800" cy="640080"/>
          </a:xfrm>
          <a:prstGeom prst="rect">
            <a:avLst/>
          </a:prstGeom>
          <a:noFill/>
          <a:ln/>
        </p:spPr>
        <p:txBody>
          <a:bodyPr wrap="square" lIns="0" tIns="0" rIns="0" bIns="0" rtlCol="0" anchor="ctr"/>
          <a:lstStyle/>
          <a:p>
            <a:pPr marL="0" indent="0">
              <a:buNone/>
            </a:pPr>
            <a:r>
              <a:rPr lang="en-US" sz="4400" b="1" kern="0" spc="800" dirty="0">
                <a:solidFill>
                  <a:srgbClr val="FFFFFF"/>
                </a:solidFill>
                <a:latin typeface="Trebuchet MS" pitchFamily="34" charset="0"/>
                <a:ea typeface="Trebuchet MS" pitchFamily="34" charset="-122"/>
                <a:cs typeface="Trebuchet MS" pitchFamily="34" charset="-120"/>
              </a:rPr>
              <a:t>HR ANALYTICS</a:t>
            </a:r>
            <a:endParaRPr lang="en-US" sz="4400" dirty="0"/>
          </a:p>
        </p:txBody>
      </p:sp>
      <p:sp>
        <p:nvSpPr>
          <p:cNvPr id="7" name="Text 5"/>
          <p:cNvSpPr/>
          <p:nvPr/>
        </p:nvSpPr>
        <p:spPr>
          <a:xfrm>
            <a:off x="777240" y="1737360"/>
            <a:ext cx="6400800" cy="548640"/>
          </a:xfrm>
          <a:prstGeom prst="rect">
            <a:avLst/>
          </a:prstGeom>
          <a:noFill/>
          <a:ln/>
        </p:spPr>
        <p:txBody>
          <a:bodyPr wrap="square" lIns="0" tIns="0" rIns="0" bIns="0" rtlCol="0" anchor="ctr"/>
          <a:lstStyle/>
          <a:p>
            <a:pPr marL="0" indent="0">
              <a:buNone/>
            </a:pPr>
            <a:r>
              <a:rPr lang="en-US" sz="2200" i="1" dirty="0">
                <a:solidFill>
                  <a:srgbClr val="E0AAFF"/>
                </a:solidFill>
                <a:latin typeface="Calibri" pitchFamily="34" charset="0"/>
                <a:ea typeface="Calibri" pitchFamily="34" charset="-122"/>
                <a:cs typeface="Calibri" pitchFamily="34" charset="-120"/>
              </a:rPr>
              <a:t>End-to-End Data Journey</a:t>
            </a:r>
            <a:endParaRPr lang="en-US" sz="2200" dirty="0"/>
          </a:p>
        </p:txBody>
      </p:sp>
      <p:sp>
        <p:nvSpPr>
          <p:cNvPr id="8" name="Text 6"/>
          <p:cNvSpPr/>
          <p:nvPr/>
        </p:nvSpPr>
        <p:spPr>
          <a:xfrm>
            <a:off x="777240" y="2331720"/>
            <a:ext cx="6400800" cy="457200"/>
          </a:xfrm>
          <a:prstGeom prst="rect">
            <a:avLst/>
          </a:prstGeom>
          <a:noFill/>
          <a:ln/>
        </p:spPr>
        <p:txBody>
          <a:bodyPr wrap="square" lIns="0" tIns="0" rIns="0" bIns="0" rtlCol="0" anchor="ctr"/>
          <a:lstStyle/>
          <a:p>
            <a:pPr marL="0" indent="0">
              <a:buNone/>
            </a:pPr>
            <a:r>
              <a:rPr lang="en-US" sz="1600" dirty="0">
                <a:solidFill>
                  <a:srgbClr val="C77DFF"/>
                </a:solidFill>
                <a:latin typeface="Calibri" pitchFamily="34" charset="0"/>
                <a:ea typeface="Calibri" pitchFamily="34" charset="-122"/>
                <a:cs typeface="Calibri" pitchFamily="34" charset="-120"/>
              </a:rPr>
              <a:t>From Raw Data to Actionable Insights</a:t>
            </a:r>
            <a:endParaRPr lang="en-US" sz="1600" dirty="0"/>
          </a:p>
        </p:txBody>
      </p:sp>
      <p:sp>
        <p:nvSpPr>
          <p:cNvPr id="9" name="Shape 7"/>
          <p:cNvSpPr/>
          <p:nvPr/>
        </p:nvSpPr>
        <p:spPr>
          <a:xfrm>
            <a:off x="777240" y="3017520"/>
            <a:ext cx="4206240" cy="457200"/>
          </a:xfrm>
          <a:prstGeom prst="rect">
            <a:avLst/>
          </a:prstGeom>
          <a:solidFill>
            <a:srgbClr val="7B2FBE"/>
          </a:solidFill>
          <a:ln w="12700">
            <a:solidFill>
              <a:srgbClr val="7B2FBE"/>
            </a:solidFill>
            <a:prstDash val="solid"/>
          </a:ln>
        </p:spPr>
        <p:txBody>
          <a:bodyPr/>
          <a:lstStyle/>
          <a:p>
            <a:endParaRPr lang="en-IN"/>
          </a:p>
        </p:txBody>
      </p:sp>
      <p:sp>
        <p:nvSpPr>
          <p:cNvPr id="10" name="Text 8"/>
          <p:cNvSpPr/>
          <p:nvPr/>
        </p:nvSpPr>
        <p:spPr>
          <a:xfrm>
            <a:off x="777240" y="3017520"/>
            <a:ext cx="4206240" cy="45720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50,000 Employees  | 6 Departments  |  10 Job Roles</a:t>
            </a:r>
            <a:endParaRPr lang="en-US" sz="1100" dirty="0"/>
          </a:p>
        </p:txBody>
      </p:sp>
      <p:sp>
        <p:nvSpPr>
          <p:cNvPr id="11" name="Shape 9"/>
          <p:cNvSpPr/>
          <p:nvPr/>
        </p:nvSpPr>
        <p:spPr>
          <a:xfrm>
            <a:off x="777240" y="3749040"/>
            <a:ext cx="914400" cy="320040"/>
          </a:xfrm>
          <a:prstGeom prst="rect">
            <a:avLst/>
          </a:prstGeom>
          <a:solidFill>
            <a:srgbClr val="00D4AA"/>
          </a:solidFill>
          <a:ln w="12700">
            <a:solidFill>
              <a:srgbClr val="00D4AA"/>
            </a:solidFill>
            <a:prstDash val="solid"/>
          </a:ln>
        </p:spPr>
        <p:txBody>
          <a:bodyPr/>
          <a:lstStyle/>
          <a:p>
            <a:endParaRPr lang="en-IN"/>
          </a:p>
        </p:txBody>
      </p:sp>
      <p:sp>
        <p:nvSpPr>
          <p:cNvPr id="12" name="Text 10"/>
          <p:cNvSpPr/>
          <p:nvPr/>
        </p:nvSpPr>
        <p:spPr>
          <a:xfrm>
            <a:off x="777240" y="3749040"/>
            <a:ext cx="91440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MySQL</a:t>
            </a:r>
            <a:endParaRPr lang="en-US" sz="1000" dirty="0"/>
          </a:p>
        </p:txBody>
      </p:sp>
      <p:sp>
        <p:nvSpPr>
          <p:cNvPr id="13" name="Shape 11"/>
          <p:cNvSpPr/>
          <p:nvPr/>
        </p:nvSpPr>
        <p:spPr>
          <a:xfrm>
            <a:off x="1874520" y="3749040"/>
            <a:ext cx="914400" cy="320040"/>
          </a:xfrm>
          <a:prstGeom prst="rect">
            <a:avLst/>
          </a:prstGeom>
          <a:solidFill>
            <a:srgbClr val="107C10"/>
          </a:solidFill>
          <a:ln w="12700">
            <a:solidFill>
              <a:srgbClr val="107C10"/>
            </a:solidFill>
            <a:prstDash val="solid"/>
          </a:ln>
        </p:spPr>
        <p:txBody>
          <a:bodyPr/>
          <a:lstStyle/>
          <a:p>
            <a:endParaRPr lang="en-IN"/>
          </a:p>
        </p:txBody>
      </p:sp>
      <p:sp>
        <p:nvSpPr>
          <p:cNvPr id="14" name="Text 12"/>
          <p:cNvSpPr/>
          <p:nvPr/>
        </p:nvSpPr>
        <p:spPr>
          <a:xfrm>
            <a:off x="1874520" y="3749040"/>
            <a:ext cx="91440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Excel</a:t>
            </a:r>
            <a:endParaRPr lang="en-US" sz="1000" dirty="0"/>
          </a:p>
        </p:txBody>
      </p:sp>
      <p:sp>
        <p:nvSpPr>
          <p:cNvPr id="15" name="Shape 13"/>
          <p:cNvSpPr/>
          <p:nvPr/>
        </p:nvSpPr>
        <p:spPr>
          <a:xfrm>
            <a:off x="2971800" y="3749040"/>
            <a:ext cx="914400" cy="320040"/>
          </a:xfrm>
          <a:prstGeom prst="rect">
            <a:avLst/>
          </a:prstGeom>
          <a:solidFill>
            <a:srgbClr val="F2C811"/>
          </a:solidFill>
          <a:ln w="12700">
            <a:solidFill>
              <a:srgbClr val="F2C811"/>
            </a:solidFill>
            <a:prstDash val="solid"/>
          </a:ln>
        </p:spPr>
        <p:txBody>
          <a:bodyPr/>
          <a:lstStyle/>
          <a:p>
            <a:endParaRPr lang="en-IN"/>
          </a:p>
        </p:txBody>
      </p:sp>
      <p:sp>
        <p:nvSpPr>
          <p:cNvPr id="16" name="Text 14"/>
          <p:cNvSpPr/>
          <p:nvPr/>
        </p:nvSpPr>
        <p:spPr>
          <a:xfrm>
            <a:off x="2971800" y="3749040"/>
            <a:ext cx="91440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Power BI</a:t>
            </a:r>
            <a:endParaRPr lang="en-US" sz="1000" dirty="0"/>
          </a:p>
        </p:txBody>
      </p:sp>
      <p:sp>
        <p:nvSpPr>
          <p:cNvPr id="17" name="Shape 15"/>
          <p:cNvSpPr/>
          <p:nvPr/>
        </p:nvSpPr>
        <p:spPr>
          <a:xfrm>
            <a:off x="4069080" y="3749040"/>
            <a:ext cx="914400" cy="320040"/>
          </a:xfrm>
          <a:prstGeom prst="rect">
            <a:avLst/>
          </a:prstGeom>
          <a:solidFill>
            <a:srgbClr val="E97627"/>
          </a:solidFill>
          <a:ln w="12700">
            <a:solidFill>
              <a:srgbClr val="E97627"/>
            </a:solidFill>
            <a:prstDash val="solid"/>
          </a:ln>
        </p:spPr>
        <p:txBody>
          <a:bodyPr/>
          <a:lstStyle/>
          <a:p>
            <a:endParaRPr lang="en-IN"/>
          </a:p>
        </p:txBody>
      </p:sp>
      <p:sp>
        <p:nvSpPr>
          <p:cNvPr id="18" name="Text 16"/>
          <p:cNvSpPr/>
          <p:nvPr/>
        </p:nvSpPr>
        <p:spPr>
          <a:xfrm>
            <a:off x="4069080" y="3749040"/>
            <a:ext cx="91440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Tableau</a:t>
            </a:r>
            <a:endParaRPr lang="en-US" sz="1000" dirty="0"/>
          </a:p>
        </p:txBody>
      </p:sp>
      <p:sp>
        <p:nvSpPr>
          <p:cNvPr id="19" name="Shape 17"/>
          <p:cNvSpPr/>
          <p:nvPr/>
        </p:nvSpPr>
        <p:spPr>
          <a:xfrm>
            <a:off x="6217920" y="548640"/>
            <a:ext cx="2560320" cy="548640"/>
          </a:xfrm>
          <a:prstGeom prst="rect">
            <a:avLst/>
          </a:prstGeom>
          <a:solidFill>
            <a:srgbClr val="3D1A7F"/>
          </a:solidFill>
          <a:ln w="12700">
            <a:solidFill>
              <a:srgbClr val="9D4EDD"/>
            </a:solidFill>
            <a:prstDash val="solid"/>
          </a:ln>
          <a:effectLst>
            <a:outerShdw blurRad="101600" dist="38100" dir="8100000" algn="bl" rotWithShape="0">
              <a:srgbClr val="000000">
                <a:alpha val="25000"/>
              </a:srgbClr>
            </a:outerShdw>
          </a:effectLst>
        </p:spPr>
        <p:txBody>
          <a:bodyPr/>
          <a:lstStyle/>
          <a:p>
            <a:endParaRPr lang="en-IN"/>
          </a:p>
        </p:txBody>
      </p:sp>
      <p:sp>
        <p:nvSpPr>
          <p:cNvPr id="20" name="Text 18"/>
          <p:cNvSpPr/>
          <p:nvPr/>
        </p:nvSpPr>
        <p:spPr>
          <a:xfrm>
            <a:off x="6217920" y="548640"/>
            <a:ext cx="256032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Raw Data</a:t>
            </a:r>
            <a:endParaRPr lang="en-US" sz="1300" dirty="0"/>
          </a:p>
        </p:txBody>
      </p:sp>
      <p:sp>
        <p:nvSpPr>
          <p:cNvPr id="21" name="Shape 19"/>
          <p:cNvSpPr/>
          <p:nvPr/>
        </p:nvSpPr>
        <p:spPr>
          <a:xfrm>
            <a:off x="7406640" y="1097280"/>
            <a:ext cx="45720" cy="256032"/>
          </a:xfrm>
          <a:prstGeom prst="rect">
            <a:avLst/>
          </a:prstGeom>
          <a:solidFill>
            <a:srgbClr val="FFD700"/>
          </a:solidFill>
          <a:ln w="12700">
            <a:solidFill>
              <a:srgbClr val="FFD700"/>
            </a:solidFill>
            <a:prstDash val="solid"/>
          </a:ln>
        </p:spPr>
        <p:txBody>
          <a:bodyPr/>
          <a:lstStyle/>
          <a:p>
            <a:endParaRPr lang="en-IN"/>
          </a:p>
        </p:txBody>
      </p:sp>
      <p:sp>
        <p:nvSpPr>
          <p:cNvPr id="22" name="Shape 20"/>
          <p:cNvSpPr/>
          <p:nvPr/>
        </p:nvSpPr>
        <p:spPr>
          <a:xfrm>
            <a:off x="6217920" y="1353312"/>
            <a:ext cx="2560320" cy="548640"/>
          </a:xfrm>
          <a:prstGeom prst="rect">
            <a:avLst/>
          </a:prstGeom>
          <a:solidFill>
            <a:srgbClr val="3D1A7F"/>
          </a:solidFill>
          <a:ln w="12700">
            <a:solidFill>
              <a:srgbClr val="9D4EDD"/>
            </a:solidFill>
            <a:prstDash val="solid"/>
          </a:ln>
          <a:effectLst>
            <a:outerShdw blurRad="101600" dist="38100" dir="8100000" algn="bl" rotWithShape="0">
              <a:srgbClr val="000000">
                <a:alpha val="25000"/>
              </a:srgbClr>
            </a:outerShdw>
          </a:effectLst>
        </p:spPr>
        <p:txBody>
          <a:bodyPr/>
          <a:lstStyle/>
          <a:p>
            <a:endParaRPr lang="en-IN"/>
          </a:p>
        </p:txBody>
      </p:sp>
      <p:sp>
        <p:nvSpPr>
          <p:cNvPr id="23" name="Text 21"/>
          <p:cNvSpPr/>
          <p:nvPr/>
        </p:nvSpPr>
        <p:spPr>
          <a:xfrm>
            <a:off x="6217920" y="1353312"/>
            <a:ext cx="256032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 Data Cleaning</a:t>
            </a:r>
            <a:endParaRPr lang="en-US" sz="1300" dirty="0"/>
          </a:p>
        </p:txBody>
      </p:sp>
      <p:sp>
        <p:nvSpPr>
          <p:cNvPr id="24" name="Shape 22"/>
          <p:cNvSpPr/>
          <p:nvPr/>
        </p:nvSpPr>
        <p:spPr>
          <a:xfrm>
            <a:off x="7406640" y="1901952"/>
            <a:ext cx="45720" cy="256032"/>
          </a:xfrm>
          <a:prstGeom prst="rect">
            <a:avLst/>
          </a:prstGeom>
          <a:solidFill>
            <a:srgbClr val="FFD700"/>
          </a:solidFill>
          <a:ln w="12700">
            <a:solidFill>
              <a:srgbClr val="FFD700"/>
            </a:solidFill>
            <a:prstDash val="solid"/>
          </a:ln>
        </p:spPr>
        <p:txBody>
          <a:bodyPr/>
          <a:lstStyle/>
          <a:p>
            <a:endParaRPr lang="en-IN"/>
          </a:p>
        </p:txBody>
      </p:sp>
      <p:sp>
        <p:nvSpPr>
          <p:cNvPr id="25" name="Shape 23"/>
          <p:cNvSpPr/>
          <p:nvPr/>
        </p:nvSpPr>
        <p:spPr>
          <a:xfrm>
            <a:off x="6217920" y="2157984"/>
            <a:ext cx="2560320" cy="548640"/>
          </a:xfrm>
          <a:prstGeom prst="rect">
            <a:avLst/>
          </a:prstGeom>
          <a:solidFill>
            <a:srgbClr val="3D1A7F"/>
          </a:solidFill>
          <a:ln w="12700">
            <a:solidFill>
              <a:srgbClr val="9D4EDD"/>
            </a:solidFill>
            <a:prstDash val="solid"/>
          </a:ln>
          <a:effectLst>
            <a:outerShdw blurRad="101600" dist="38100" dir="8100000" algn="bl" rotWithShape="0">
              <a:srgbClr val="000000">
                <a:alpha val="25000"/>
              </a:srgbClr>
            </a:outerShdw>
          </a:effectLst>
        </p:spPr>
        <p:txBody>
          <a:bodyPr/>
          <a:lstStyle/>
          <a:p>
            <a:endParaRPr lang="en-IN"/>
          </a:p>
        </p:txBody>
      </p:sp>
      <p:sp>
        <p:nvSpPr>
          <p:cNvPr id="26" name="Text 24"/>
          <p:cNvSpPr/>
          <p:nvPr/>
        </p:nvSpPr>
        <p:spPr>
          <a:xfrm>
            <a:off x="6217920" y="2157984"/>
            <a:ext cx="256032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 SQL Modelling</a:t>
            </a:r>
            <a:endParaRPr lang="en-US" sz="1300" dirty="0"/>
          </a:p>
        </p:txBody>
      </p:sp>
      <p:sp>
        <p:nvSpPr>
          <p:cNvPr id="27" name="Shape 25"/>
          <p:cNvSpPr/>
          <p:nvPr/>
        </p:nvSpPr>
        <p:spPr>
          <a:xfrm>
            <a:off x="7406640" y="2706624"/>
            <a:ext cx="45720" cy="256032"/>
          </a:xfrm>
          <a:prstGeom prst="rect">
            <a:avLst/>
          </a:prstGeom>
          <a:solidFill>
            <a:srgbClr val="FFD700"/>
          </a:solidFill>
          <a:ln w="12700">
            <a:solidFill>
              <a:srgbClr val="FFD700"/>
            </a:solidFill>
            <a:prstDash val="solid"/>
          </a:ln>
        </p:spPr>
        <p:txBody>
          <a:bodyPr/>
          <a:lstStyle/>
          <a:p>
            <a:endParaRPr lang="en-IN"/>
          </a:p>
        </p:txBody>
      </p:sp>
      <p:sp>
        <p:nvSpPr>
          <p:cNvPr id="28" name="Shape 26"/>
          <p:cNvSpPr/>
          <p:nvPr/>
        </p:nvSpPr>
        <p:spPr>
          <a:xfrm>
            <a:off x="6217920" y="2962656"/>
            <a:ext cx="2560320" cy="548640"/>
          </a:xfrm>
          <a:prstGeom prst="rect">
            <a:avLst/>
          </a:prstGeom>
          <a:solidFill>
            <a:srgbClr val="3D1A7F"/>
          </a:solidFill>
          <a:ln w="12700">
            <a:solidFill>
              <a:srgbClr val="9D4EDD"/>
            </a:solidFill>
            <a:prstDash val="solid"/>
          </a:ln>
          <a:effectLst>
            <a:outerShdw blurRad="101600" dist="38100" dir="8100000" algn="bl" rotWithShape="0">
              <a:srgbClr val="000000">
                <a:alpha val="25000"/>
              </a:srgbClr>
            </a:outerShdw>
          </a:effectLst>
        </p:spPr>
        <p:txBody>
          <a:bodyPr/>
          <a:lstStyle/>
          <a:p>
            <a:endParaRPr lang="en-IN"/>
          </a:p>
        </p:txBody>
      </p:sp>
      <p:sp>
        <p:nvSpPr>
          <p:cNvPr id="29" name="Text 27"/>
          <p:cNvSpPr/>
          <p:nvPr/>
        </p:nvSpPr>
        <p:spPr>
          <a:xfrm>
            <a:off x="6217920" y="2962656"/>
            <a:ext cx="256032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 Visualisation</a:t>
            </a:r>
            <a:endParaRPr lang="en-US" sz="1300" dirty="0"/>
          </a:p>
        </p:txBody>
      </p:sp>
      <p:sp>
        <p:nvSpPr>
          <p:cNvPr id="30" name="Shape 28"/>
          <p:cNvSpPr/>
          <p:nvPr/>
        </p:nvSpPr>
        <p:spPr>
          <a:xfrm>
            <a:off x="7406640" y="3511296"/>
            <a:ext cx="45720" cy="256032"/>
          </a:xfrm>
          <a:prstGeom prst="rect">
            <a:avLst/>
          </a:prstGeom>
          <a:solidFill>
            <a:srgbClr val="FFD700"/>
          </a:solidFill>
          <a:ln w="12700">
            <a:solidFill>
              <a:srgbClr val="FFD700"/>
            </a:solidFill>
            <a:prstDash val="solid"/>
          </a:ln>
        </p:spPr>
        <p:txBody>
          <a:bodyPr/>
          <a:lstStyle/>
          <a:p>
            <a:endParaRPr lang="en-IN"/>
          </a:p>
        </p:txBody>
      </p:sp>
      <p:sp>
        <p:nvSpPr>
          <p:cNvPr id="31" name="Shape 29"/>
          <p:cNvSpPr/>
          <p:nvPr/>
        </p:nvSpPr>
        <p:spPr>
          <a:xfrm>
            <a:off x="6217920" y="3767328"/>
            <a:ext cx="2560320" cy="548640"/>
          </a:xfrm>
          <a:prstGeom prst="rect">
            <a:avLst/>
          </a:prstGeom>
          <a:solidFill>
            <a:srgbClr val="3D1A7F"/>
          </a:solidFill>
          <a:ln w="12700">
            <a:solidFill>
              <a:srgbClr val="9D4EDD"/>
            </a:solidFill>
            <a:prstDash val="solid"/>
          </a:ln>
          <a:effectLst>
            <a:outerShdw blurRad="101600" dist="38100" dir="8100000" algn="bl" rotWithShape="0">
              <a:srgbClr val="000000">
                <a:alpha val="25000"/>
              </a:srgbClr>
            </a:outerShdw>
          </a:effectLst>
        </p:spPr>
        <p:txBody>
          <a:bodyPr/>
          <a:lstStyle/>
          <a:p>
            <a:endParaRPr lang="en-IN"/>
          </a:p>
        </p:txBody>
      </p:sp>
      <p:sp>
        <p:nvSpPr>
          <p:cNvPr id="32" name="Text 30"/>
          <p:cNvSpPr/>
          <p:nvPr/>
        </p:nvSpPr>
        <p:spPr>
          <a:xfrm>
            <a:off x="6217920" y="3767328"/>
            <a:ext cx="256032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 Insights</a:t>
            </a:r>
            <a:endParaRPr lang="en-US" sz="1300" dirty="0"/>
          </a:p>
        </p:txBody>
      </p:sp>
      <p:sp>
        <p:nvSpPr>
          <p:cNvPr id="33" name="Text 31"/>
          <p:cNvSpPr/>
          <p:nvPr/>
        </p:nvSpPr>
        <p:spPr>
          <a:xfrm>
            <a:off x="0" y="4800600"/>
            <a:ext cx="9144000" cy="320040"/>
          </a:xfrm>
          <a:prstGeom prst="rect">
            <a:avLst/>
          </a:prstGeom>
          <a:noFill/>
          <a:ln/>
        </p:spPr>
        <p:txBody>
          <a:bodyPr wrap="square" rtlCol="0" anchor="ctr"/>
          <a:lstStyle/>
          <a:p>
            <a:pPr marL="0" indent="0" algn="ctr">
              <a:buNone/>
            </a:pPr>
            <a:r>
              <a:rPr lang="en-US" sz="1000" dirty="0">
                <a:solidFill>
                  <a:srgbClr val="7B6B9E"/>
                </a:solidFill>
                <a:latin typeface="Calibri" pitchFamily="34" charset="0"/>
                <a:ea typeface="Calibri" pitchFamily="34" charset="-122"/>
                <a:cs typeface="Calibri" pitchFamily="34" charset="-120"/>
              </a:rPr>
              <a:t>Prepared by Group 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41A"/>
          </a:solidFill>
          <a:ln w="12700">
            <a:solidFill>
              <a:srgbClr val="07041A"/>
            </a:solidFill>
            <a:prstDash val="solid"/>
          </a:ln>
        </p:spPr>
        <p:txBody>
          <a:bodyPr/>
          <a:lstStyle/>
          <a:p>
            <a:endParaRPr lang="en-IN"/>
          </a:p>
        </p:txBody>
      </p:sp>
      <p:sp>
        <p:nvSpPr>
          <p:cNvPr id="3" name="Shape 1"/>
          <p:cNvSpPr/>
          <p:nvPr/>
        </p:nvSpPr>
        <p:spPr>
          <a:xfrm>
            <a:off x="0" y="0"/>
            <a:ext cx="54864" cy="960120"/>
          </a:xfrm>
          <a:prstGeom prst="rect">
            <a:avLst/>
          </a:prstGeom>
          <a:solidFill>
            <a:srgbClr val="06D6A0"/>
          </a:solidFill>
          <a:ln w="12700">
            <a:solidFill>
              <a:srgbClr val="06D6A0"/>
            </a:solidFill>
            <a:prstDash val="solid"/>
          </a:ln>
        </p:spPr>
        <p:txBody>
          <a:bodyPr/>
          <a:lstStyle/>
          <a:p>
            <a:endParaRPr lang="en-IN"/>
          </a:p>
        </p:txBody>
      </p:sp>
      <p:sp>
        <p:nvSpPr>
          <p:cNvPr id="5" name="Text 3"/>
          <p:cNvSpPr/>
          <p:nvPr/>
        </p:nvSpPr>
        <p:spPr>
          <a:xfrm>
            <a:off x="274320" y="274320"/>
            <a:ext cx="8595360" cy="530352"/>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Objective of This Analysis</a:t>
            </a:r>
            <a:endParaRPr lang="en-US" sz="2600" dirty="0"/>
          </a:p>
        </p:txBody>
      </p:sp>
      <p:sp>
        <p:nvSpPr>
          <p:cNvPr id="6" name="Text 4"/>
          <p:cNvSpPr/>
          <p:nvPr/>
        </p:nvSpPr>
        <p:spPr>
          <a:xfrm>
            <a:off x="274320" y="987552"/>
            <a:ext cx="8595360" cy="292608"/>
          </a:xfrm>
          <a:prstGeom prst="rect">
            <a:avLst/>
          </a:prstGeom>
          <a:noFill/>
          <a:ln/>
        </p:spPr>
        <p:txBody>
          <a:bodyPr wrap="square" lIns="0" tIns="0" rIns="0" bIns="0" rtlCol="0" anchor="ctr"/>
          <a:lstStyle/>
          <a:p>
            <a:pPr marL="0" indent="0">
              <a:buNone/>
            </a:pPr>
            <a:r>
              <a:rPr lang="en-US" sz="1200" i="1" dirty="0">
                <a:solidFill>
                  <a:srgbClr val="C77DFF"/>
                </a:solidFill>
                <a:latin typeface="Calibri" pitchFamily="34" charset="0"/>
                <a:ea typeface="Calibri" pitchFamily="34" charset="-122"/>
                <a:cs typeface="Calibri" pitchFamily="34" charset="-120"/>
              </a:rPr>
              <a:t>Why we analysed this HR dataset — and what we set out to answer.</a:t>
            </a:r>
            <a:endParaRPr lang="en-US" sz="1200" dirty="0"/>
          </a:p>
        </p:txBody>
      </p:sp>
      <p:sp>
        <p:nvSpPr>
          <p:cNvPr id="7" name="Shape 5"/>
          <p:cNvSpPr/>
          <p:nvPr/>
        </p:nvSpPr>
        <p:spPr>
          <a:xfrm>
            <a:off x="256032" y="1353312"/>
            <a:ext cx="4206240" cy="1078992"/>
          </a:xfrm>
          <a:prstGeom prst="rect">
            <a:avLst/>
          </a:prstGeom>
          <a:solidFill>
            <a:srgbClr val="241050"/>
          </a:solidFill>
          <a:ln w="19050">
            <a:solidFill>
              <a:srgbClr val="FF6B6B"/>
            </a:solidFill>
            <a:prstDash val="solid"/>
          </a:ln>
          <a:effectLst>
            <a:outerShdw blurRad="101600" dist="25400" dir="8100000" algn="bl" rotWithShape="0">
              <a:srgbClr val="000000">
                <a:alpha val="25000"/>
              </a:srgbClr>
            </a:outerShdw>
          </a:effectLst>
        </p:spPr>
        <p:txBody>
          <a:bodyPr/>
          <a:lstStyle/>
          <a:p>
            <a:endParaRPr lang="en-IN"/>
          </a:p>
        </p:txBody>
      </p:sp>
      <p:sp>
        <p:nvSpPr>
          <p:cNvPr id="8" name="Shape 6"/>
          <p:cNvSpPr/>
          <p:nvPr/>
        </p:nvSpPr>
        <p:spPr>
          <a:xfrm>
            <a:off x="256032" y="1353312"/>
            <a:ext cx="64008" cy="1078992"/>
          </a:xfrm>
          <a:prstGeom prst="rect">
            <a:avLst/>
          </a:prstGeom>
          <a:solidFill>
            <a:srgbClr val="FF6B6B"/>
          </a:solidFill>
          <a:ln w="12700">
            <a:solidFill>
              <a:srgbClr val="FF6B6B"/>
            </a:solidFill>
            <a:prstDash val="solid"/>
          </a:ln>
        </p:spPr>
        <p:txBody>
          <a:bodyPr/>
          <a:lstStyle/>
          <a:p>
            <a:endParaRPr lang="en-IN"/>
          </a:p>
        </p:txBody>
      </p:sp>
      <p:sp>
        <p:nvSpPr>
          <p:cNvPr id="9" name="Text 7"/>
          <p:cNvSpPr/>
          <p:nvPr/>
        </p:nvSpPr>
        <p:spPr>
          <a:xfrm>
            <a:off x="393192" y="1426464"/>
            <a:ext cx="822960" cy="347472"/>
          </a:xfrm>
          <a:prstGeom prst="rect">
            <a:avLst/>
          </a:prstGeom>
          <a:noFill/>
          <a:ln/>
        </p:spPr>
        <p:txBody>
          <a:bodyPr wrap="square" lIns="0" tIns="0" rIns="0" bIns="0" rtlCol="0" anchor="ctr"/>
          <a:lstStyle/>
          <a:p>
            <a:pPr marL="0" indent="0">
              <a:buNone/>
            </a:pPr>
            <a:r>
              <a:rPr lang="en-US" sz="1500" dirty="0">
                <a:solidFill>
                  <a:srgbClr val="000000"/>
                </a:solidFill>
              </a:rPr>
              <a:t>🔍  01</a:t>
            </a:r>
            <a:endParaRPr lang="en-US" sz="1500" dirty="0"/>
          </a:p>
        </p:txBody>
      </p:sp>
      <p:sp>
        <p:nvSpPr>
          <p:cNvPr id="10" name="Text 8"/>
          <p:cNvSpPr/>
          <p:nvPr/>
        </p:nvSpPr>
        <p:spPr>
          <a:xfrm>
            <a:off x="1152144" y="1426464"/>
            <a:ext cx="3200400"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Identify Attrition Drivers</a:t>
            </a:r>
            <a:endParaRPr lang="en-US" sz="1200" dirty="0"/>
          </a:p>
        </p:txBody>
      </p:sp>
      <p:sp>
        <p:nvSpPr>
          <p:cNvPr id="11" name="Text 9"/>
          <p:cNvSpPr/>
          <p:nvPr/>
        </p:nvSpPr>
        <p:spPr>
          <a:xfrm>
            <a:off x="393192" y="1810512"/>
            <a:ext cx="3977640" cy="548640"/>
          </a:xfrm>
          <a:prstGeom prst="rect">
            <a:avLst/>
          </a:prstGeom>
          <a:noFill/>
          <a:ln/>
        </p:spPr>
        <p:txBody>
          <a:bodyPr wrap="square" lIns="0" tIns="0" rIns="0" bIns="0" rtlCol="0" anchor="ctr"/>
          <a:lstStyle/>
          <a:p>
            <a:pPr marL="0" indent="0">
              <a:buNone/>
            </a:pPr>
            <a:r>
              <a:rPr lang="en-US" sz="950" dirty="0">
                <a:solidFill>
                  <a:srgbClr val="E8DEFF"/>
                </a:solidFill>
                <a:latin typeface="Calibri" pitchFamily="34" charset="0"/>
                <a:ea typeface="Calibri" pitchFamily="34" charset="-122"/>
                <a:cs typeface="Calibri" pitchFamily="34" charset="-120"/>
              </a:rPr>
              <a:t>Uncover the root causes behind the 50.21% employee attrition rate — whether demographic, financial, or behavioural — using data rather than assumptions.</a:t>
            </a:r>
            <a:endParaRPr lang="en-US" sz="950" dirty="0"/>
          </a:p>
        </p:txBody>
      </p:sp>
      <p:sp>
        <p:nvSpPr>
          <p:cNvPr id="12" name="Shape 10"/>
          <p:cNvSpPr/>
          <p:nvPr/>
        </p:nvSpPr>
        <p:spPr>
          <a:xfrm>
            <a:off x="4690872" y="1353312"/>
            <a:ext cx="4206240" cy="1078992"/>
          </a:xfrm>
          <a:prstGeom prst="rect">
            <a:avLst/>
          </a:prstGeom>
          <a:solidFill>
            <a:srgbClr val="241050"/>
          </a:solidFill>
          <a:ln w="19050">
            <a:solidFill>
              <a:srgbClr val="7B2FBE"/>
            </a:solidFill>
            <a:prstDash val="solid"/>
          </a:ln>
          <a:effectLst>
            <a:outerShdw blurRad="101600" dist="25400" dir="8100000" algn="bl" rotWithShape="0">
              <a:srgbClr val="000000">
                <a:alpha val="25000"/>
              </a:srgbClr>
            </a:outerShdw>
          </a:effectLst>
        </p:spPr>
        <p:txBody>
          <a:bodyPr/>
          <a:lstStyle/>
          <a:p>
            <a:endParaRPr lang="en-IN"/>
          </a:p>
        </p:txBody>
      </p:sp>
      <p:sp>
        <p:nvSpPr>
          <p:cNvPr id="13" name="Shape 11"/>
          <p:cNvSpPr/>
          <p:nvPr/>
        </p:nvSpPr>
        <p:spPr>
          <a:xfrm>
            <a:off x="4690872" y="1353312"/>
            <a:ext cx="64008" cy="1078992"/>
          </a:xfrm>
          <a:prstGeom prst="rect">
            <a:avLst/>
          </a:prstGeom>
          <a:solidFill>
            <a:srgbClr val="7B2FBE"/>
          </a:solidFill>
          <a:ln w="12700">
            <a:solidFill>
              <a:srgbClr val="7B2FBE"/>
            </a:solidFill>
            <a:prstDash val="solid"/>
          </a:ln>
        </p:spPr>
        <p:txBody>
          <a:bodyPr/>
          <a:lstStyle/>
          <a:p>
            <a:endParaRPr lang="en-IN"/>
          </a:p>
        </p:txBody>
      </p:sp>
      <p:sp>
        <p:nvSpPr>
          <p:cNvPr id="14" name="Text 12"/>
          <p:cNvSpPr/>
          <p:nvPr/>
        </p:nvSpPr>
        <p:spPr>
          <a:xfrm>
            <a:off x="4828032" y="1426464"/>
            <a:ext cx="822960" cy="347472"/>
          </a:xfrm>
          <a:prstGeom prst="rect">
            <a:avLst/>
          </a:prstGeom>
          <a:noFill/>
          <a:ln/>
        </p:spPr>
        <p:txBody>
          <a:bodyPr wrap="square" lIns="0" tIns="0" rIns="0" bIns="0" rtlCol="0" anchor="ctr"/>
          <a:lstStyle/>
          <a:p>
            <a:pPr marL="0" indent="0">
              <a:buNone/>
            </a:pPr>
            <a:r>
              <a:rPr lang="en-US" sz="1500" dirty="0">
                <a:solidFill>
                  <a:srgbClr val="000000"/>
                </a:solidFill>
              </a:rPr>
              <a:t>📊  02</a:t>
            </a:r>
            <a:endParaRPr lang="en-US" sz="1500" dirty="0"/>
          </a:p>
        </p:txBody>
      </p:sp>
      <p:sp>
        <p:nvSpPr>
          <p:cNvPr id="15" name="Text 13"/>
          <p:cNvSpPr/>
          <p:nvPr/>
        </p:nvSpPr>
        <p:spPr>
          <a:xfrm>
            <a:off x="5586984" y="1426464"/>
            <a:ext cx="3200400"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Build a Multi-Dimensional View</a:t>
            </a:r>
            <a:endParaRPr lang="en-US" sz="1200" dirty="0"/>
          </a:p>
        </p:txBody>
      </p:sp>
      <p:sp>
        <p:nvSpPr>
          <p:cNvPr id="16" name="Text 14"/>
          <p:cNvSpPr/>
          <p:nvPr/>
        </p:nvSpPr>
        <p:spPr>
          <a:xfrm>
            <a:off x="4828032" y="1810512"/>
            <a:ext cx="3977640" cy="548640"/>
          </a:xfrm>
          <a:prstGeom prst="rect">
            <a:avLst/>
          </a:prstGeom>
          <a:noFill/>
          <a:ln/>
        </p:spPr>
        <p:txBody>
          <a:bodyPr wrap="square" lIns="0" tIns="0" rIns="0" bIns="0" rtlCol="0" anchor="ctr"/>
          <a:lstStyle/>
          <a:p>
            <a:pPr marL="0" indent="0">
              <a:buNone/>
            </a:pPr>
            <a:r>
              <a:rPr lang="en-US" sz="950" dirty="0">
                <a:solidFill>
                  <a:srgbClr val="E8DEFF"/>
                </a:solidFill>
                <a:latin typeface="Calibri" pitchFamily="34" charset="0"/>
                <a:ea typeface="Calibri" pitchFamily="34" charset="-122"/>
                <a:cs typeface="Calibri" pitchFamily="34" charset="-120"/>
              </a:rPr>
              <a:t>Go beyond surface KPIs. Analyse attrition across departments, job roles, income bands, age groups, promotion history, and work-life balance simultaneously.</a:t>
            </a:r>
            <a:endParaRPr lang="en-US" sz="950" dirty="0"/>
          </a:p>
        </p:txBody>
      </p:sp>
      <p:sp>
        <p:nvSpPr>
          <p:cNvPr id="17" name="Shape 15"/>
          <p:cNvSpPr/>
          <p:nvPr/>
        </p:nvSpPr>
        <p:spPr>
          <a:xfrm>
            <a:off x="256032" y="2542032"/>
            <a:ext cx="4206240" cy="1078992"/>
          </a:xfrm>
          <a:prstGeom prst="rect">
            <a:avLst/>
          </a:prstGeom>
          <a:solidFill>
            <a:srgbClr val="241050"/>
          </a:solidFill>
          <a:ln w="19050">
            <a:solidFill>
              <a:srgbClr val="FFD166"/>
            </a:solidFill>
            <a:prstDash val="solid"/>
          </a:ln>
          <a:effectLst>
            <a:outerShdw blurRad="101600" dist="25400" dir="8100000" algn="bl" rotWithShape="0">
              <a:srgbClr val="000000">
                <a:alpha val="25000"/>
              </a:srgbClr>
            </a:outerShdw>
          </a:effectLst>
        </p:spPr>
        <p:txBody>
          <a:bodyPr/>
          <a:lstStyle/>
          <a:p>
            <a:endParaRPr lang="en-IN"/>
          </a:p>
        </p:txBody>
      </p:sp>
      <p:sp>
        <p:nvSpPr>
          <p:cNvPr id="18" name="Shape 16"/>
          <p:cNvSpPr/>
          <p:nvPr/>
        </p:nvSpPr>
        <p:spPr>
          <a:xfrm>
            <a:off x="256032" y="2542032"/>
            <a:ext cx="64008" cy="1078992"/>
          </a:xfrm>
          <a:prstGeom prst="rect">
            <a:avLst/>
          </a:prstGeom>
          <a:solidFill>
            <a:srgbClr val="FFD166"/>
          </a:solidFill>
          <a:ln w="12700">
            <a:solidFill>
              <a:srgbClr val="FFD166"/>
            </a:solidFill>
            <a:prstDash val="solid"/>
          </a:ln>
        </p:spPr>
        <p:txBody>
          <a:bodyPr/>
          <a:lstStyle/>
          <a:p>
            <a:endParaRPr lang="en-IN"/>
          </a:p>
        </p:txBody>
      </p:sp>
      <p:sp>
        <p:nvSpPr>
          <p:cNvPr id="19" name="Text 17"/>
          <p:cNvSpPr/>
          <p:nvPr/>
        </p:nvSpPr>
        <p:spPr>
          <a:xfrm>
            <a:off x="393192" y="2615184"/>
            <a:ext cx="822960" cy="347472"/>
          </a:xfrm>
          <a:prstGeom prst="rect">
            <a:avLst/>
          </a:prstGeom>
          <a:noFill/>
          <a:ln/>
        </p:spPr>
        <p:txBody>
          <a:bodyPr wrap="square" lIns="0" tIns="0" rIns="0" bIns="0" rtlCol="0" anchor="ctr"/>
          <a:lstStyle/>
          <a:p>
            <a:pPr marL="0" indent="0">
              <a:buNone/>
            </a:pPr>
            <a:r>
              <a:rPr lang="en-US" sz="1500" dirty="0">
                <a:solidFill>
                  <a:srgbClr val="000000"/>
                </a:solidFill>
              </a:rPr>
              <a:t>💰  03</a:t>
            </a:r>
            <a:endParaRPr lang="en-US" sz="1500" dirty="0"/>
          </a:p>
        </p:txBody>
      </p:sp>
      <p:sp>
        <p:nvSpPr>
          <p:cNvPr id="20" name="Text 18"/>
          <p:cNvSpPr/>
          <p:nvPr/>
        </p:nvSpPr>
        <p:spPr>
          <a:xfrm>
            <a:off x="1152144" y="2615184"/>
            <a:ext cx="3200400"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Quantify the Business Impact</a:t>
            </a:r>
            <a:endParaRPr lang="en-US" sz="1200" dirty="0"/>
          </a:p>
        </p:txBody>
      </p:sp>
      <p:sp>
        <p:nvSpPr>
          <p:cNvPr id="21" name="Text 19"/>
          <p:cNvSpPr/>
          <p:nvPr/>
        </p:nvSpPr>
        <p:spPr>
          <a:xfrm>
            <a:off x="393192" y="2999232"/>
            <a:ext cx="3977640" cy="548640"/>
          </a:xfrm>
          <a:prstGeom prst="rect">
            <a:avLst/>
          </a:prstGeom>
          <a:noFill/>
          <a:ln/>
        </p:spPr>
        <p:txBody>
          <a:bodyPr wrap="square" lIns="0" tIns="0" rIns="0" bIns="0" rtlCol="0" anchor="ctr"/>
          <a:lstStyle/>
          <a:p>
            <a:pPr marL="0" indent="0">
              <a:buNone/>
            </a:pPr>
            <a:r>
              <a:rPr lang="en-US" sz="950" dirty="0">
                <a:solidFill>
                  <a:srgbClr val="E8DEFF"/>
                </a:solidFill>
                <a:latin typeface="Calibri" pitchFamily="34" charset="0"/>
                <a:ea typeface="Calibri" pitchFamily="34" charset="-122"/>
                <a:cs typeface="Calibri" pitchFamily="34" charset="-120"/>
              </a:rPr>
              <a:t>Translate employee loss into financial terms. Estimate replacement costs, productivity loss, and the true cost of inaction for senior leadership.</a:t>
            </a:r>
            <a:endParaRPr lang="en-US" sz="950" dirty="0"/>
          </a:p>
        </p:txBody>
      </p:sp>
      <p:sp>
        <p:nvSpPr>
          <p:cNvPr id="22" name="Shape 20"/>
          <p:cNvSpPr/>
          <p:nvPr/>
        </p:nvSpPr>
        <p:spPr>
          <a:xfrm>
            <a:off x="4690872" y="2542032"/>
            <a:ext cx="4206240" cy="1078992"/>
          </a:xfrm>
          <a:prstGeom prst="rect">
            <a:avLst/>
          </a:prstGeom>
          <a:solidFill>
            <a:srgbClr val="241050"/>
          </a:solidFill>
          <a:ln w="19050">
            <a:solidFill>
              <a:srgbClr val="118AB2"/>
            </a:solidFill>
            <a:prstDash val="solid"/>
          </a:ln>
          <a:effectLst>
            <a:outerShdw blurRad="101600" dist="25400" dir="8100000" algn="bl" rotWithShape="0">
              <a:srgbClr val="000000">
                <a:alpha val="25000"/>
              </a:srgbClr>
            </a:outerShdw>
          </a:effectLst>
        </p:spPr>
        <p:txBody>
          <a:bodyPr/>
          <a:lstStyle/>
          <a:p>
            <a:endParaRPr lang="en-IN"/>
          </a:p>
        </p:txBody>
      </p:sp>
      <p:sp>
        <p:nvSpPr>
          <p:cNvPr id="23" name="Shape 21"/>
          <p:cNvSpPr/>
          <p:nvPr/>
        </p:nvSpPr>
        <p:spPr>
          <a:xfrm>
            <a:off x="4690872" y="2542032"/>
            <a:ext cx="64008" cy="1078992"/>
          </a:xfrm>
          <a:prstGeom prst="rect">
            <a:avLst/>
          </a:prstGeom>
          <a:solidFill>
            <a:srgbClr val="118AB2"/>
          </a:solidFill>
          <a:ln w="12700">
            <a:solidFill>
              <a:srgbClr val="118AB2"/>
            </a:solidFill>
            <a:prstDash val="solid"/>
          </a:ln>
        </p:spPr>
        <p:txBody>
          <a:bodyPr/>
          <a:lstStyle/>
          <a:p>
            <a:endParaRPr lang="en-IN"/>
          </a:p>
        </p:txBody>
      </p:sp>
      <p:sp>
        <p:nvSpPr>
          <p:cNvPr id="24" name="Text 22"/>
          <p:cNvSpPr/>
          <p:nvPr/>
        </p:nvSpPr>
        <p:spPr>
          <a:xfrm>
            <a:off x="4828032" y="2615184"/>
            <a:ext cx="822960" cy="347472"/>
          </a:xfrm>
          <a:prstGeom prst="rect">
            <a:avLst/>
          </a:prstGeom>
          <a:noFill/>
          <a:ln/>
        </p:spPr>
        <p:txBody>
          <a:bodyPr wrap="square" lIns="0" tIns="0" rIns="0" bIns="0" rtlCol="0" anchor="ctr"/>
          <a:lstStyle/>
          <a:p>
            <a:pPr marL="0" indent="0">
              <a:buNone/>
            </a:pPr>
            <a:r>
              <a:rPr lang="en-US" sz="1500" dirty="0">
                <a:solidFill>
                  <a:srgbClr val="000000"/>
                </a:solidFill>
              </a:rPr>
              <a:t>🛠  04</a:t>
            </a:r>
            <a:endParaRPr lang="en-US" sz="1500" dirty="0"/>
          </a:p>
        </p:txBody>
      </p:sp>
      <p:sp>
        <p:nvSpPr>
          <p:cNvPr id="25" name="Text 23"/>
          <p:cNvSpPr/>
          <p:nvPr/>
        </p:nvSpPr>
        <p:spPr>
          <a:xfrm>
            <a:off x="5586984" y="2615184"/>
            <a:ext cx="3200400"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Validate Data Through Multiple Tools</a:t>
            </a:r>
            <a:endParaRPr lang="en-US" sz="1200" dirty="0"/>
          </a:p>
        </p:txBody>
      </p:sp>
      <p:sp>
        <p:nvSpPr>
          <p:cNvPr id="26" name="Text 24"/>
          <p:cNvSpPr/>
          <p:nvPr/>
        </p:nvSpPr>
        <p:spPr>
          <a:xfrm>
            <a:off x="4828032" y="2999232"/>
            <a:ext cx="3977640" cy="548640"/>
          </a:xfrm>
          <a:prstGeom prst="rect">
            <a:avLst/>
          </a:prstGeom>
          <a:noFill/>
          <a:ln/>
        </p:spPr>
        <p:txBody>
          <a:bodyPr wrap="square" lIns="0" tIns="0" rIns="0" bIns="0" rtlCol="0" anchor="ctr"/>
          <a:lstStyle/>
          <a:p>
            <a:pPr marL="0" indent="0">
              <a:buNone/>
            </a:pPr>
            <a:r>
              <a:rPr lang="en-US" sz="950" dirty="0">
                <a:solidFill>
                  <a:srgbClr val="E8DEFF"/>
                </a:solidFill>
                <a:latin typeface="Calibri" pitchFamily="34" charset="0"/>
                <a:ea typeface="Calibri" pitchFamily="34" charset="-122"/>
                <a:cs typeface="Calibri" pitchFamily="34" charset="-120"/>
              </a:rPr>
              <a:t>Use MySQL for modelling &amp; querying, Excel for pivot-based exploration, Power BI for DAX-driven KPIs, and Tableau for visual storytelling — ensuring cross-tool consistency.</a:t>
            </a:r>
            <a:endParaRPr lang="en-US" sz="950" dirty="0"/>
          </a:p>
        </p:txBody>
      </p:sp>
      <p:grpSp>
        <p:nvGrpSpPr>
          <p:cNvPr id="37" name="Group 36">
            <a:extLst>
              <a:ext uri="{FF2B5EF4-FFF2-40B4-BE49-F238E27FC236}">
                <a16:creationId xmlns:a16="http://schemas.microsoft.com/office/drawing/2014/main" id="{9F6AF7F1-AAF9-9846-9972-53ECD25F2626}"/>
              </a:ext>
            </a:extLst>
          </p:cNvPr>
          <p:cNvGrpSpPr/>
          <p:nvPr/>
        </p:nvGrpSpPr>
        <p:grpSpPr>
          <a:xfrm>
            <a:off x="2249424" y="3828565"/>
            <a:ext cx="4206240" cy="1078992"/>
            <a:chOff x="256032" y="3730752"/>
            <a:chExt cx="4206240" cy="1078992"/>
          </a:xfrm>
        </p:grpSpPr>
        <p:sp>
          <p:nvSpPr>
            <p:cNvPr id="27" name="Shape 25"/>
            <p:cNvSpPr/>
            <p:nvPr/>
          </p:nvSpPr>
          <p:spPr>
            <a:xfrm>
              <a:off x="256032" y="3730752"/>
              <a:ext cx="4206240" cy="1078992"/>
            </a:xfrm>
            <a:prstGeom prst="rect">
              <a:avLst/>
            </a:prstGeom>
            <a:solidFill>
              <a:srgbClr val="241050"/>
            </a:solidFill>
            <a:ln w="19050">
              <a:solidFill>
                <a:srgbClr val="06D6A0"/>
              </a:solidFill>
              <a:prstDash val="solid"/>
            </a:ln>
            <a:effectLst>
              <a:outerShdw blurRad="101600" dist="25400" dir="8100000" algn="bl" rotWithShape="0">
                <a:srgbClr val="000000">
                  <a:alpha val="25000"/>
                </a:srgbClr>
              </a:outerShdw>
            </a:effectLst>
          </p:spPr>
          <p:txBody>
            <a:bodyPr/>
            <a:lstStyle/>
            <a:p>
              <a:endParaRPr lang="en-IN"/>
            </a:p>
          </p:txBody>
        </p:sp>
        <p:sp>
          <p:nvSpPr>
            <p:cNvPr id="28" name="Shape 26"/>
            <p:cNvSpPr/>
            <p:nvPr/>
          </p:nvSpPr>
          <p:spPr>
            <a:xfrm>
              <a:off x="256032" y="3730752"/>
              <a:ext cx="64008" cy="1078992"/>
            </a:xfrm>
            <a:prstGeom prst="rect">
              <a:avLst/>
            </a:prstGeom>
            <a:solidFill>
              <a:srgbClr val="06D6A0"/>
            </a:solidFill>
            <a:ln w="12700">
              <a:solidFill>
                <a:srgbClr val="06D6A0"/>
              </a:solidFill>
              <a:prstDash val="solid"/>
            </a:ln>
          </p:spPr>
          <p:txBody>
            <a:bodyPr/>
            <a:lstStyle/>
            <a:p>
              <a:endParaRPr lang="en-IN"/>
            </a:p>
          </p:txBody>
        </p:sp>
        <p:sp>
          <p:nvSpPr>
            <p:cNvPr id="29" name="Text 27"/>
            <p:cNvSpPr/>
            <p:nvPr/>
          </p:nvSpPr>
          <p:spPr>
            <a:xfrm>
              <a:off x="393192" y="3803904"/>
              <a:ext cx="822960" cy="347472"/>
            </a:xfrm>
            <a:prstGeom prst="rect">
              <a:avLst/>
            </a:prstGeom>
            <a:noFill/>
            <a:ln/>
          </p:spPr>
          <p:txBody>
            <a:bodyPr wrap="square" lIns="0" tIns="0" rIns="0" bIns="0" rtlCol="0" anchor="ctr"/>
            <a:lstStyle/>
            <a:p>
              <a:pPr marL="0" indent="0">
                <a:buNone/>
              </a:pPr>
              <a:r>
                <a:rPr lang="en-US" sz="1500" dirty="0">
                  <a:solidFill>
                    <a:srgbClr val="000000"/>
                  </a:solidFill>
                </a:rPr>
                <a:t>🎯  05</a:t>
              </a:r>
              <a:endParaRPr lang="en-US" sz="1500" dirty="0"/>
            </a:p>
          </p:txBody>
        </p:sp>
        <p:sp>
          <p:nvSpPr>
            <p:cNvPr id="30" name="Text 28"/>
            <p:cNvSpPr/>
            <p:nvPr/>
          </p:nvSpPr>
          <p:spPr>
            <a:xfrm>
              <a:off x="1152144" y="3803904"/>
              <a:ext cx="3200400"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Deliver Actionable Recommendations</a:t>
              </a:r>
              <a:endParaRPr lang="en-US" sz="1200" dirty="0"/>
            </a:p>
          </p:txBody>
        </p:sp>
        <p:sp>
          <p:nvSpPr>
            <p:cNvPr id="31" name="Text 29"/>
            <p:cNvSpPr/>
            <p:nvPr/>
          </p:nvSpPr>
          <p:spPr>
            <a:xfrm>
              <a:off x="393192" y="4187952"/>
              <a:ext cx="3977640" cy="548640"/>
            </a:xfrm>
            <a:prstGeom prst="rect">
              <a:avLst/>
            </a:prstGeom>
            <a:noFill/>
            <a:ln/>
          </p:spPr>
          <p:txBody>
            <a:bodyPr wrap="square" lIns="0" tIns="0" rIns="0" bIns="0" rtlCol="0" anchor="ctr"/>
            <a:lstStyle/>
            <a:p>
              <a:pPr marL="0" indent="0">
                <a:buNone/>
              </a:pPr>
              <a:r>
                <a:rPr lang="en-US" sz="950" dirty="0">
                  <a:solidFill>
                    <a:srgbClr val="E8DEFF"/>
                  </a:solidFill>
                  <a:latin typeface="Calibri" pitchFamily="34" charset="0"/>
                  <a:ea typeface="Calibri" pitchFamily="34" charset="-122"/>
                  <a:cs typeface="Calibri" pitchFamily="34" charset="-120"/>
                </a:rPr>
                <a:t>Convert findings into 5 prioritised HR interventions with estimated impact, enabling evidence-based decision-making by HR leadership.</a:t>
              </a:r>
              <a:endParaRPr lang="en-US" sz="950" dirty="0"/>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0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D1B69"/>
          </a:solidFill>
          <a:ln w="12700">
            <a:solidFill>
              <a:srgbClr val="2D1B69"/>
            </a:solidFill>
            <a:prstDash val="solid"/>
          </a:ln>
        </p:spPr>
        <p:txBody>
          <a:bodyPr/>
          <a:lstStyle/>
          <a:p>
            <a:endParaRPr lang="en-IN"/>
          </a:p>
        </p:txBody>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DATASET OVERVIEW</a:t>
            </a:r>
            <a:endParaRPr lang="en-US" sz="2200" dirty="0"/>
          </a:p>
        </p:txBody>
      </p:sp>
      <p:sp>
        <p:nvSpPr>
          <p:cNvPr id="4" name="Text 2"/>
          <p:cNvSpPr/>
          <p:nvPr/>
        </p:nvSpPr>
        <p:spPr>
          <a:xfrm>
            <a:off x="365760" y="685800"/>
            <a:ext cx="8229600" cy="365760"/>
          </a:xfrm>
          <a:prstGeom prst="rect">
            <a:avLst/>
          </a:prstGeom>
          <a:noFill/>
          <a:ln/>
        </p:spPr>
        <p:txBody>
          <a:bodyPr wrap="square" lIns="0" tIns="0" rIns="0" bIns="0" rtlCol="0" anchor="ctr"/>
          <a:lstStyle/>
          <a:p>
            <a:pPr marL="0" indent="0">
              <a:buNone/>
            </a:pPr>
            <a:r>
              <a:rPr lang="en-US" sz="1500" i="1" dirty="0">
                <a:solidFill>
                  <a:srgbClr val="7B2FBE"/>
                </a:solidFill>
                <a:latin typeface="Calibri" pitchFamily="34" charset="0"/>
                <a:ea typeface="Calibri" pitchFamily="34" charset="-122"/>
                <a:cs typeface="Calibri" pitchFamily="34" charset="-120"/>
              </a:rPr>
              <a:t>What is this HR Dataset About?</a:t>
            </a:r>
            <a:endParaRPr lang="en-US" sz="1500" dirty="0"/>
          </a:p>
        </p:txBody>
      </p:sp>
      <p:sp>
        <p:nvSpPr>
          <p:cNvPr id="5" name="Text 3"/>
          <p:cNvSpPr/>
          <p:nvPr/>
        </p:nvSpPr>
        <p:spPr>
          <a:xfrm>
            <a:off x="365760" y="1051560"/>
            <a:ext cx="8412480" cy="777240"/>
          </a:xfrm>
          <a:prstGeom prst="rect">
            <a:avLst/>
          </a:prstGeom>
          <a:noFill/>
          <a:ln/>
        </p:spPr>
        <p:txBody>
          <a:bodyPr wrap="square" lIns="0" tIns="0" rIns="0" bIns="0" rtlCol="0" anchor="ctr"/>
          <a:lstStyle/>
          <a:p>
            <a:pPr marL="0" indent="0" algn="just">
              <a:buNone/>
            </a:pPr>
            <a:r>
              <a:rPr lang="en-US" sz="1300" dirty="0">
                <a:solidFill>
                  <a:srgbClr val="1A0A3C"/>
                </a:solidFill>
                <a:latin typeface="Calibri" pitchFamily="34" charset="0"/>
                <a:ea typeface="Calibri" pitchFamily="34" charset="-122"/>
                <a:cs typeface="Calibri" pitchFamily="34" charset="-120"/>
              </a:rPr>
              <a:t>This dataset captures detailed workforce records of 50,000 employees across multiple departments, job roles, and seniority levels. It is designed to help HR professionals and data analysts uncover patterns in employee attrition, satisfaction, compensation, and career progression — enabling evidence-based people decisions.</a:t>
            </a:r>
            <a:endParaRPr lang="en-US" sz="1300" dirty="0"/>
          </a:p>
        </p:txBody>
      </p:sp>
      <p:sp>
        <p:nvSpPr>
          <p:cNvPr id="6" name="Shape 4"/>
          <p:cNvSpPr/>
          <p:nvPr/>
        </p:nvSpPr>
        <p:spPr>
          <a:xfrm>
            <a:off x="365760" y="1920240"/>
            <a:ext cx="1965960" cy="914400"/>
          </a:xfrm>
          <a:prstGeom prst="rect">
            <a:avLst/>
          </a:prstGeom>
          <a:solidFill>
            <a:srgbClr val="2D1B69"/>
          </a:solidFill>
          <a:ln w="12700">
            <a:solidFill>
              <a:srgbClr val="2D1B69"/>
            </a:solidFill>
            <a:prstDash val="solid"/>
          </a:ln>
          <a:effectLst>
            <a:outerShdw blurRad="101600" dist="38100" dir="8100000" algn="bl" rotWithShape="0">
              <a:srgbClr val="000000">
                <a:alpha val="25000"/>
              </a:srgbClr>
            </a:outerShdw>
          </a:effectLst>
        </p:spPr>
        <p:txBody>
          <a:bodyPr/>
          <a:lstStyle/>
          <a:p>
            <a:endParaRPr lang="en-IN"/>
          </a:p>
        </p:txBody>
      </p:sp>
      <p:sp>
        <p:nvSpPr>
          <p:cNvPr id="7" name="Text 5"/>
          <p:cNvSpPr/>
          <p:nvPr/>
        </p:nvSpPr>
        <p:spPr>
          <a:xfrm>
            <a:off x="365760" y="1920240"/>
            <a:ext cx="1965960" cy="548640"/>
          </a:xfrm>
          <a:prstGeom prst="rect">
            <a:avLst/>
          </a:prstGeom>
          <a:noFill/>
          <a:ln/>
        </p:spPr>
        <p:txBody>
          <a:bodyPr wrap="square" lIns="0" tIns="0" rIns="0" bIns="0" rtlCol="0" anchor="b"/>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50,000</a:t>
            </a:r>
            <a:endParaRPr lang="en-US" sz="2200" dirty="0"/>
          </a:p>
        </p:txBody>
      </p:sp>
      <p:sp>
        <p:nvSpPr>
          <p:cNvPr id="8" name="Text 6"/>
          <p:cNvSpPr/>
          <p:nvPr/>
        </p:nvSpPr>
        <p:spPr>
          <a:xfrm>
            <a:off x="365760" y="2468880"/>
            <a:ext cx="1965960" cy="365760"/>
          </a:xfrm>
          <a:prstGeom prst="rect">
            <a:avLst/>
          </a:prstGeom>
          <a:noFill/>
          <a:ln/>
        </p:spPr>
        <p:txBody>
          <a:bodyPr wrap="square" lIns="0" tIns="0" rIns="0" bIns="0" rtlCol="0" anchor="t"/>
          <a:lstStyle/>
          <a:p>
            <a:pPr marL="0" indent="0" algn="ctr">
              <a:buNone/>
            </a:pPr>
            <a:r>
              <a:rPr lang="en-US" sz="1000" dirty="0">
                <a:solidFill>
                  <a:srgbClr val="E0AAFF"/>
                </a:solidFill>
                <a:latin typeface="Calibri" pitchFamily="34" charset="0"/>
                <a:ea typeface="Calibri" pitchFamily="34" charset="-122"/>
                <a:cs typeface="Calibri" pitchFamily="34" charset="-120"/>
              </a:rPr>
              <a:t>Total Employees</a:t>
            </a:r>
            <a:endParaRPr lang="en-US" sz="1000" dirty="0"/>
          </a:p>
        </p:txBody>
      </p:sp>
      <p:sp>
        <p:nvSpPr>
          <p:cNvPr id="9" name="Shape 7"/>
          <p:cNvSpPr/>
          <p:nvPr/>
        </p:nvSpPr>
        <p:spPr>
          <a:xfrm>
            <a:off x="2514600" y="1920240"/>
            <a:ext cx="1965960" cy="914400"/>
          </a:xfrm>
          <a:prstGeom prst="rect">
            <a:avLst/>
          </a:prstGeom>
          <a:solidFill>
            <a:srgbClr val="B91C1C"/>
          </a:solidFill>
          <a:ln w="12700">
            <a:solidFill>
              <a:srgbClr val="B91C1C"/>
            </a:solidFill>
            <a:prstDash val="solid"/>
          </a:ln>
          <a:effectLst>
            <a:outerShdw blurRad="101600" dist="38100" dir="8100000" algn="bl" rotWithShape="0">
              <a:srgbClr val="000000">
                <a:alpha val="25000"/>
              </a:srgbClr>
            </a:outerShdw>
          </a:effectLst>
        </p:spPr>
        <p:txBody>
          <a:bodyPr/>
          <a:lstStyle/>
          <a:p>
            <a:endParaRPr lang="en-IN"/>
          </a:p>
        </p:txBody>
      </p:sp>
      <p:sp>
        <p:nvSpPr>
          <p:cNvPr id="10" name="Text 8"/>
          <p:cNvSpPr/>
          <p:nvPr/>
        </p:nvSpPr>
        <p:spPr>
          <a:xfrm>
            <a:off x="2514600" y="1920240"/>
            <a:ext cx="1965960" cy="548640"/>
          </a:xfrm>
          <a:prstGeom prst="rect">
            <a:avLst/>
          </a:prstGeom>
          <a:noFill/>
          <a:ln/>
        </p:spPr>
        <p:txBody>
          <a:bodyPr wrap="square" lIns="0" tIns="0" rIns="0" bIns="0" rtlCol="0" anchor="b"/>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50.21%</a:t>
            </a:r>
            <a:endParaRPr lang="en-US" sz="2200" dirty="0"/>
          </a:p>
        </p:txBody>
      </p:sp>
      <p:sp>
        <p:nvSpPr>
          <p:cNvPr id="11" name="Text 9"/>
          <p:cNvSpPr/>
          <p:nvPr/>
        </p:nvSpPr>
        <p:spPr>
          <a:xfrm>
            <a:off x="2514600" y="2468880"/>
            <a:ext cx="1965960" cy="365760"/>
          </a:xfrm>
          <a:prstGeom prst="rect">
            <a:avLst/>
          </a:prstGeom>
          <a:noFill/>
          <a:ln/>
        </p:spPr>
        <p:txBody>
          <a:bodyPr wrap="square" lIns="0" tIns="0" rIns="0" bIns="0" rtlCol="0" anchor="t"/>
          <a:lstStyle/>
          <a:p>
            <a:pPr marL="0" indent="0" algn="ctr">
              <a:buNone/>
            </a:pPr>
            <a:r>
              <a:rPr lang="en-US" sz="1000" dirty="0">
                <a:solidFill>
                  <a:srgbClr val="E0AAFF"/>
                </a:solidFill>
                <a:latin typeface="Calibri" pitchFamily="34" charset="0"/>
                <a:ea typeface="Calibri" pitchFamily="34" charset="-122"/>
                <a:cs typeface="Calibri" pitchFamily="34" charset="-120"/>
              </a:rPr>
              <a:t>Attrition Rate</a:t>
            </a:r>
            <a:endParaRPr lang="en-US" sz="1000" dirty="0"/>
          </a:p>
        </p:txBody>
      </p:sp>
      <p:sp>
        <p:nvSpPr>
          <p:cNvPr id="12" name="Shape 10"/>
          <p:cNvSpPr/>
          <p:nvPr/>
        </p:nvSpPr>
        <p:spPr>
          <a:xfrm>
            <a:off x="4663440" y="1920240"/>
            <a:ext cx="1965960" cy="914400"/>
          </a:xfrm>
          <a:prstGeom prst="rect">
            <a:avLst/>
          </a:prstGeom>
          <a:solidFill>
            <a:srgbClr val="0D6E3C"/>
          </a:solidFill>
          <a:ln w="12700">
            <a:solidFill>
              <a:srgbClr val="0D6E3C"/>
            </a:solidFill>
            <a:prstDash val="solid"/>
          </a:ln>
          <a:effectLst>
            <a:outerShdw blurRad="101600" dist="38100" dir="8100000" algn="bl" rotWithShape="0">
              <a:srgbClr val="000000">
                <a:alpha val="25000"/>
              </a:srgbClr>
            </a:outerShdw>
          </a:effectLst>
        </p:spPr>
        <p:txBody>
          <a:bodyPr/>
          <a:lstStyle/>
          <a:p>
            <a:endParaRPr lang="en-IN"/>
          </a:p>
        </p:txBody>
      </p:sp>
      <p:sp>
        <p:nvSpPr>
          <p:cNvPr id="13" name="Text 11"/>
          <p:cNvSpPr/>
          <p:nvPr/>
        </p:nvSpPr>
        <p:spPr>
          <a:xfrm>
            <a:off x="4663440" y="1920240"/>
            <a:ext cx="1965960" cy="548640"/>
          </a:xfrm>
          <a:prstGeom prst="rect">
            <a:avLst/>
          </a:prstGeom>
          <a:noFill/>
          <a:ln/>
        </p:spPr>
        <p:txBody>
          <a:bodyPr wrap="square" lIns="0" tIns="0" rIns="0" bIns="0" rtlCol="0" anchor="b"/>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₹26,016</a:t>
            </a:r>
            <a:endParaRPr lang="en-US" sz="2200" dirty="0"/>
          </a:p>
        </p:txBody>
      </p:sp>
      <p:sp>
        <p:nvSpPr>
          <p:cNvPr id="14" name="Text 12"/>
          <p:cNvSpPr/>
          <p:nvPr/>
        </p:nvSpPr>
        <p:spPr>
          <a:xfrm>
            <a:off x="4663440" y="2468880"/>
            <a:ext cx="1965960" cy="365760"/>
          </a:xfrm>
          <a:prstGeom prst="rect">
            <a:avLst/>
          </a:prstGeom>
          <a:noFill/>
          <a:ln/>
        </p:spPr>
        <p:txBody>
          <a:bodyPr wrap="square" lIns="0" tIns="0" rIns="0" bIns="0" rtlCol="0" anchor="t"/>
          <a:lstStyle/>
          <a:p>
            <a:pPr marL="0" indent="0" algn="ctr">
              <a:buNone/>
            </a:pPr>
            <a:r>
              <a:rPr lang="en-US" sz="1000" dirty="0">
                <a:solidFill>
                  <a:srgbClr val="E0AAFF"/>
                </a:solidFill>
                <a:latin typeface="Calibri" pitchFamily="34" charset="0"/>
                <a:ea typeface="Calibri" pitchFamily="34" charset="-122"/>
                <a:cs typeface="Calibri" pitchFamily="34" charset="-120"/>
              </a:rPr>
              <a:t>Avg Monthly Income</a:t>
            </a:r>
            <a:endParaRPr lang="en-US" sz="1000" dirty="0"/>
          </a:p>
        </p:txBody>
      </p:sp>
      <p:sp>
        <p:nvSpPr>
          <p:cNvPr id="15" name="Shape 13"/>
          <p:cNvSpPr/>
          <p:nvPr/>
        </p:nvSpPr>
        <p:spPr>
          <a:xfrm>
            <a:off x="6812280" y="1920240"/>
            <a:ext cx="1965960" cy="914400"/>
          </a:xfrm>
          <a:prstGeom prst="rect">
            <a:avLst/>
          </a:prstGeom>
          <a:solidFill>
            <a:srgbClr val="7B2FBE"/>
          </a:solidFill>
          <a:ln w="12700">
            <a:solidFill>
              <a:srgbClr val="7B2FBE"/>
            </a:solidFill>
            <a:prstDash val="solid"/>
          </a:ln>
          <a:effectLst>
            <a:outerShdw blurRad="101600" dist="38100" dir="8100000" algn="bl" rotWithShape="0">
              <a:srgbClr val="000000">
                <a:alpha val="25000"/>
              </a:srgbClr>
            </a:outerShdw>
          </a:effectLst>
        </p:spPr>
        <p:txBody>
          <a:bodyPr/>
          <a:lstStyle/>
          <a:p>
            <a:endParaRPr lang="en-IN"/>
          </a:p>
        </p:txBody>
      </p:sp>
      <p:sp>
        <p:nvSpPr>
          <p:cNvPr id="16" name="Text 14"/>
          <p:cNvSpPr/>
          <p:nvPr/>
        </p:nvSpPr>
        <p:spPr>
          <a:xfrm>
            <a:off x="6812280" y="1920240"/>
            <a:ext cx="1965960" cy="548640"/>
          </a:xfrm>
          <a:prstGeom prst="rect">
            <a:avLst/>
          </a:prstGeom>
          <a:noFill/>
          <a:ln/>
        </p:spPr>
        <p:txBody>
          <a:bodyPr wrap="square" lIns="0" tIns="0" rIns="0" bIns="0" rtlCol="0" anchor="b"/>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39 Yrs</a:t>
            </a:r>
            <a:endParaRPr lang="en-US" sz="2200" dirty="0"/>
          </a:p>
        </p:txBody>
      </p:sp>
      <p:sp>
        <p:nvSpPr>
          <p:cNvPr id="17" name="Text 15"/>
          <p:cNvSpPr/>
          <p:nvPr/>
        </p:nvSpPr>
        <p:spPr>
          <a:xfrm>
            <a:off x="6812280" y="2468880"/>
            <a:ext cx="1965960" cy="365760"/>
          </a:xfrm>
          <a:prstGeom prst="rect">
            <a:avLst/>
          </a:prstGeom>
          <a:noFill/>
          <a:ln/>
        </p:spPr>
        <p:txBody>
          <a:bodyPr wrap="square" lIns="0" tIns="0" rIns="0" bIns="0" rtlCol="0" anchor="t"/>
          <a:lstStyle/>
          <a:p>
            <a:pPr marL="0" indent="0" algn="ctr">
              <a:buNone/>
            </a:pPr>
            <a:r>
              <a:rPr lang="en-US" sz="1000" dirty="0">
                <a:solidFill>
                  <a:srgbClr val="E0AAFF"/>
                </a:solidFill>
                <a:latin typeface="Calibri" pitchFamily="34" charset="0"/>
                <a:ea typeface="Calibri" pitchFamily="34" charset="-122"/>
                <a:cs typeface="Calibri" pitchFamily="34" charset="-120"/>
              </a:rPr>
              <a:t>Avg Age</a:t>
            </a:r>
            <a:endParaRPr lang="en-US" sz="1000" dirty="0"/>
          </a:p>
        </p:txBody>
      </p:sp>
      <p:sp>
        <p:nvSpPr>
          <p:cNvPr id="18" name="Shape 16"/>
          <p:cNvSpPr/>
          <p:nvPr/>
        </p:nvSpPr>
        <p:spPr>
          <a:xfrm>
            <a:off x="365760" y="2971800"/>
            <a:ext cx="1965960" cy="914400"/>
          </a:xfrm>
          <a:prstGeom prst="rect">
            <a:avLst/>
          </a:prstGeom>
          <a:solidFill>
            <a:srgbClr val="1D4ED8"/>
          </a:solidFill>
          <a:ln w="12700">
            <a:solidFill>
              <a:srgbClr val="1D4ED8"/>
            </a:solidFill>
            <a:prstDash val="solid"/>
          </a:ln>
          <a:effectLst>
            <a:outerShdw blurRad="101600" dist="38100" dir="8100000" algn="bl" rotWithShape="0">
              <a:srgbClr val="000000">
                <a:alpha val="25000"/>
              </a:srgbClr>
            </a:outerShdw>
          </a:effectLst>
        </p:spPr>
        <p:txBody>
          <a:bodyPr/>
          <a:lstStyle/>
          <a:p>
            <a:endParaRPr lang="en-IN"/>
          </a:p>
        </p:txBody>
      </p:sp>
      <p:sp>
        <p:nvSpPr>
          <p:cNvPr id="19" name="Text 17"/>
          <p:cNvSpPr/>
          <p:nvPr/>
        </p:nvSpPr>
        <p:spPr>
          <a:xfrm>
            <a:off x="365760" y="2971800"/>
            <a:ext cx="1965960" cy="548640"/>
          </a:xfrm>
          <a:prstGeom prst="rect">
            <a:avLst/>
          </a:prstGeom>
          <a:noFill/>
          <a:ln/>
        </p:spPr>
        <p:txBody>
          <a:bodyPr wrap="square" lIns="0" tIns="0" rIns="0" bIns="0" rtlCol="0" anchor="b"/>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50.12%</a:t>
            </a:r>
            <a:endParaRPr lang="en-US" sz="2200" dirty="0"/>
          </a:p>
        </p:txBody>
      </p:sp>
      <p:sp>
        <p:nvSpPr>
          <p:cNvPr id="20" name="Text 18"/>
          <p:cNvSpPr/>
          <p:nvPr/>
        </p:nvSpPr>
        <p:spPr>
          <a:xfrm>
            <a:off x="365760" y="3520440"/>
            <a:ext cx="1965960" cy="365760"/>
          </a:xfrm>
          <a:prstGeom prst="rect">
            <a:avLst/>
          </a:prstGeom>
          <a:noFill/>
          <a:ln/>
        </p:spPr>
        <p:txBody>
          <a:bodyPr wrap="square" lIns="0" tIns="0" rIns="0" bIns="0" rtlCol="0" anchor="t"/>
          <a:lstStyle/>
          <a:p>
            <a:pPr marL="0" indent="0" algn="ctr">
              <a:buNone/>
            </a:pPr>
            <a:r>
              <a:rPr lang="en-US" sz="1000" dirty="0">
                <a:solidFill>
                  <a:srgbClr val="E0AAFF"/>
                </a:solidFill>
                <a:latin typeface="Calibri" pitchFamily="34" charset="0"/>
                <a:ea typeface="Calibri" pitchFamily="34" charset="-122"/>
                <a:cs typeface="Calibri" pitchFamily="34" charset="-120"/>
              </a:rPr>
              <a:t>Male Employees</a:t>
            </a:r>
            <a:endParaRPr lang="en-US" sz="1000" dirty="0"/>
          </a:p>
        </p:txBody>
      </p:sp>
      <p:sp>
        <p:nvSpPr>
          <p:cNvPr id="21" name="Shape 19"/>
          <p:cNvSpPr/>
          <p:nvPr/>
        </p:nvSpPr>
        <p:spPr>
          <a:xfrm>
            <a:off x="2514600" y="2971800"/>
            <a:ext cx="1965960" cy="914400"/>
          </a:xfrm>
          <a:prstGeom prst="rect">
            <a:avLst/>
          </a:prstGeom>
          <a:solidFill>
            <a:srgbClr val="BE185D"/>
          </a:solidFill>
          <a:ln w="12700">
            <a:solidFill>
              <a:srgbClr val="BE185D"/>
            </a:solidFill>
            <a:prstDash val="solid"/>
          </a:ln>
          <a:effectLst>
            <a:outerShdw blurRad="101600" dist="38100" dir="8100000" algn="bl" rotWithShape="0">
              <a:srgbClr val="000000">
                <a:alpha val="25000"/>
              </a:srgbClr>
            </a:outerShdw>
          </a:effectLst>
        </p:spPr>
        <p:txBody>
          <a:bodyPr/>
          <a:lstStyle/>
          <a:p>
            <a:endParaRPr lang="en-IN"/>
          </a:p>
        </p:txBody>
      </p:sp>
      <p:sp>
        <p:nvSpPr>
          <p:cNvPr id="22" name="Text 20"/>
          <p:cNvSpPr/>
          <p:nvPr/>
        </p:nvSpPr>
        <p:spPr>
          <a:xfrm>
            <a:off x="2514600" y="2971800"/>
            <a:ext cx="1965960" cy="548640"/>
          </a:xfrm>
          <a:prstGeom prst="rect">
            <a:avLst/>
          </a:prstGeom>
          <a:noFill/>
          <a:ln/>
        </p:spPr>
        <p:txBody>
          <a:bodyPr wrap="square" lIns="0" tIns="0" rIns="0" bIns="0" rtlCol="0" anchor="b"/>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49.88%</a:t>
            </a:r>
            <a:endParaRPr lang="en-US" sz="2200" dirty="0"/>
          </a:p>
        </p:txBody>
      </p:sp>
      <p:sp>
        <p:nvSpPr>
          <p:cNvPr id="23" name="Text 21"/>
          <p:cNvSpPr/>
          <p:nvPr/>
        </p:nvSpPr>
        <p:spPr>
          <a:xfrm>
            <a:off x="2514600" y="3520440"/>
            <a:ext cx="1965960" cy="365760"/>
          </a:xfrm>
          <a:prstGeom prst="rect">
            <a:avLst/>
          </a:prstGeom>
          <a:noFill/>
          <a:ln/>
        </p:spPr>
        <p:txBody>
          <a:bodyPr wrap="square" lIns="0" tIns="0" rIns="0" bIns="0" rtlCol="0" anchor="t"/>
          <a:lstStyle/>
          <a:p>
            <a:pPr marL="0" indent="0" algn="ctr">
              <a:buNone/>
            </a:pPr>
            <a:r>
              <a:rPr lang="en-US" sz="1000" dirty="0">
                <a:solidFill>
                  <a:srgbClr val="E0AAFF"/>
                </a:solidFill>
                <a:latin typeface="Calibri" pitchFamily="34" charset="0"/>
                <a:ea typeface="Calibri" pitchFamily="34" charset="-122"/>
                <a:cs typeface="Calibri" pitchFamily="34" charset="-120"/>
              </a:rPr>
              <a:t>Female Employees</a:t>
            </a:r>
            <a:endParaRPr lang="en-US" sz="1000" dirty="0"/>
          </a:p>
        </p:txBody>
      </p:sp>
      <p:sp>
        <p:nvSpPr>
          <p:cNvPr id="24" name="Shape 22"/>
          <p:cNvSpPr/>
          <p:nvPr/>
        </p:nvSpPr>
        <p:spPr>
          <a:xfrm>
            <a:off x="4663440" y="2971800"/>
            <a:ext cx="1965960" cy="914400"/>
          </a:xfrm>
          <a:prstGeom prst="rect">
            <a:avLst/>
          </a:prstGeom>
          <a:solidFill>
            <a:srgbClr val="B45309"/>
          </a:solidFill>
          <a:ln w="12700">
            <a:solidFill>
              <a:srgbClr val="B45309"/>
            </a:solidFill>
            <a:prstDash val="solid"/>
          </a:ln>
          <a:effectLst>
            <a:outerShdw blurRad="101600" dist="38100" dir="8100000" algn="bl" rotWithShape="0">
              <a:srgbClr val="000000">
                <a:alpha val="25000"/>
              </a:srgbClr>
            </a:outerShdw>
          </a:effectLst>
        </p:spPr>
        <p:txBody>
          <a:bodyPr/>
          <a:lstStyle/>
          <a:p>
            <a:endParaRPr lang="en-IN"/>
          </a:p>
        </p:txBody>
      </p:sp>
      <p:sp>
        <p:nvSpPr>
          <p:cNvPr id="25" name="Text 23"/>
          <p:cNvSpPr/>
          <p:nvPr/>
        </p:nvSpPr>
        <p:spPr>
          <a:xfrm>
            <a:off x="4663440" y="2971800"/>
            <a:ext cx="1965960" cy="548640"/>
          </a:xfrm>
          <a:prstGeom prst="rect">
            <a:avLst/>
          </a:prstGeom>
          <a:noFill/>
          <a:ln/>
        </p:spPr>
        <p:txBody>
          <a:bodyPr wrap="square" lIns="0" tIns="0" rIns="0" bIns="0" rtlCol="0" anchor="b"/>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10.8 Yrs</a:t>
            </a:r>
            <a:endParaRPr lang="en-US" sz="2200" dirty="0"/>
          </a:p>
        </p:txBody>
      </p:sp>
      <p:sp>
        <p:nvSpPr>
          <p:cNvPr id="26" name="Text 24"/>
          <p:cNvSpPr/>
          <p:nvPr/>
        </p:nvSpPr>
        <p:spPr>
          <a:xfrm>
            <a:off x="4663440" y="3520440"/>
            <a:ext cx="1965960" cy="365760"/>
          </a:xfrm>
          <a:prstGeom prst="rect">
            <a:avLst/>
          </a:prstGeom>
          <a:noFill/>
          <a:ln/>
        </p:spPr>
        <p:txBody>
          <a:bodyPr wrap="square" lIns="0" tIns="0" rIns="0" bIns="0" rtlCol="0" anchor="t"/>
          <a:lstStyle/>
          <a:p>
            <a:pPr marL="0" indent="0" algn="ctr">
              <a:buNone/>
            </a:pPr>
            <a:r>
              <a:rPr lang="en-US" sz="1000" dirty="0">
                <a:solidFill>
                  <a:srgbClr val="E0AAFF"/>
                </a:solidFill>
                <a:latin typeface="Calibri" pitchFamily="34" charset="0"/>
                <a:ea typeface="Calibri" pitchFamily="34" charset="-122"/>
                <a:cs typeface="Calibri" pitchFamily="34" charset="-120"/>
              </a:rPr>
              <a:t>Avg Tenure</a:t>
            </a:r>
            <a:endParaRPr lang="en-US" sz="1000" dirty="0"/>
          </a:p>
        </p:txBody>
      </p:sp>
      <p:sp>
        <p:nvSpPr>
          <p:cNvPr id="27" name="Shape 25"/>
          <p:cNvSpPr/>
          <p:nvPr/>
        </p:nvSpPr>
        <p:spPr>
          <a:xfrm>
            <a:off x="6812280" y="2971800"/>
            <a:ext cx="1965960" cy="914400"/>
          </a:xfrm>
          <a:prstGeom prst="rect">
            <a:avLst/>
          </a:prstGeom>
          <a:solidFill>
            <a:srgbClr val="0F766E"/>
          </a:solidFill>
          <a:ln w="12700">
            <a:solidFill>
              <a:srgbClr val="0F766E"/>
            </a:solidFill>
            <a:prstDash val="solid"/>
          </a:ln>
          <a:effectLst>
            <a:outerShdw blurRad="101600" dist="38100" dir="8100000" algn="bl" rotWithShape="0">
              <a:srgbClr val="000000">
                <a:alpha val="25000"/>
              </a:srgbClr>
            </a:outerShdw>
          </a:effectLst>
        </p:spPr>
        <p:txBody>
          <a:bodyPr/>
          <a:lstStyle/>
          <a:p>
            <a:endParaRPr lang="en-IN"/>
          </a:p>
        </p:txBody>
      </p:sp>
      <p:sp>
        <p:nvSpPr>
          <p:cNvPr id="28" name="Text 26"/>
          <p:cNvSpPr/>
          <p:nvPr/>
        </p:nvSpPr>
        <p:spPr>
          <a:xfrm>
            <a:off x="6812280" y="2971800"/>
            <a:ext cx="1965960" cy="548640"/>
          </a:xfrm>
          <a:prstGeom prst="rect">
            <a:avLst/>
          </a:prstGeom>
          <a:noFill/>
          <a:ln/>
        </p:spPr>
        <p:txBody>
          <a:bodyPr wrap="square" lIns="0" tIns="0" rIns="0" bIns="0" rtlCol="0" anchor="b"/>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2.5 / 4</a:t>
            </a:r>
            <a:endParaRPr lang="en-US" sz="2200" dirty="0"/>
          </a:p>
        </p:txBody>
      </p:sp>
      <p:sp>
        <p:nvSpPr>
          <p:cNvPr id="29" name="Text 27"/>
          <p:cNvSpPr/>
          <p:nvPr/>
        </p:nvSpPr>
        <p:spPr>
          <a:xfrm>
            <a:off x="6812280" y="3520440"/>
            <a:ext cx="1965960" cy="365760"/>
          </a:xfrm>
          <a:prstGeom prst="rect">
            <a:avLst/>
          </a:prstGeom>
          <a:noFill/>
          <a:ln/>
        </p:spPr>
        <p:txBody>
          <a:bodyPr wrap="square" lIns="0" tIns="0" rIns="0" bIns="0" rtlCol="0" anchor="t"/>
          <a:lstStyle/>
          <a:p>
            <a:pPr marL="0" indent="0" algn="ctr">
              <a:buNone/>
            </a:pPr>
            <a:r>
              <a:rPr lang="en-US" sz="1000" dirty="0">
                <a:solidFill>
                  <a:srgbClr val="E0AAFF"/>
                </a:solidFill>
                <a:latin typeface="Calibri" pitchFamily="34" charset="0"/>
                <a:ea typeface="Calibri" pitchFamily="34" charset="-122"/>
                <a:cs typeface="Calibri" pitchFamily="34" charset="-120"/>
              </a:rPr>
              <a:t>Avg Work-Life Balance</a:t>
            </a:r>
            <a:endParaRPr lang="en-US" sz="1000" dirty="0"/>
          </a:p>
        </p:txBody>
      </p:sp>
      <p:sp>
        <p:nvSpPr>
          <p:cNvPr id="30" name="Shape 28"/>
          <p:cNvSpPr/>
          <p:nvPr/>
        </p:nvSpPr>
        <p:spPr>
          <a:xfrm>
            <a:off x="365760" y="4023360"/>
            <a:ext cx="4160520" cy="1005840"/>
          </a:xfrm>
          <a:prstGeom prst="rect">
            <a:avLst/>
          </a:prstGeom>
          <a:solidFill>
            <a:srgbClr val="3D1A7F"/>
          </a:solidFill>
          <a:ln w="12700">
            <a:solidFill>
              <a:srgbClr val="9D4EDD"/>
            </a:solidFill>
            <a:prstDash val="solid"/>
          </a:ln>
          <a:effectLst>
            <a:outerShdw blurRad="152400" dist="25400" dir="8100000" algn="bl" rotWithShape="0">
              <a:srgbClr val="000000">
                <a:alpha val="15000"/>
              </a:srgbClr>
            </a:outerShdw>
          </a:effectLst>
        </p:spPr>
        <p:txBody>
          <a:bodyPr/>
          <a:lstStyle/>
          <a:p>
            <a:endParaRPr lang="en-IN"/>
          </a:p>
        </p:txBody>
      </p:sp>
      <p:sp>
        <p:nvSpPr>
          <p:cNvPr id="31" name="Text 29"/>
          <p:cNvSpPr/>
          <p:nvPr/>
        </p:nvSpPr>
        <p:spPr>
          <a:xfrm>
            <a:off x="457200" y="4041648"/>
            <a:ext cx="3931920" cy="292608"/>
          </a:xfrm>
          <a:prstGeom prst="rect">
            <a:avLst/>
          </a:prstGeom>
          <a:noFill/>
          <a:ln/>
        </p:spPr>
        <p:txBody>
          <a:bodyPr wrap="square" lIns="0" tIns="0" rIns="0" bIns="0" rtlCol="0" anchor="ctr"/>
          <a:lstStyle/>
          <a:p>
            <a:pPr marL="0" indent="0">
              <a:buNone/>
            </a:pPr>
            <a:r>
              <a:rPr lang="en-US" sz="1100" b="1" dirty="0">
                <a:solidFill>
                  <a:srgbClr val="FFD700"/>
                </a:solidFill>
                <a:latin typeface="Calibri" pitchFamily="34" charset="0"/>
                <a:ea typeface="Calibri" pitchFamily="34" charset="-122"/>
                <a:cs typeface="Calibri" pitchFamily="34" charset="-120"/>
              </a:rPr>
              <a:t>HR Table 1 (HR1) – 18 Columns</a:t>
            </a:r>
            <a:endParaRPr lang="en-US" sz="1100" dirty="0"/>
          </a:p>
        </p:txBody>
      </p:sp>
      <p:sp>
        <p:nvSpPr>
          <p:cNvPr id="32" name="Text 30"/>
          <p:cNvSpPr/>
          <p:nvPr/>
        </p:nvSpPr>
        <p:spPr>
          <a:xfrm>
            <a:off x="457200" y="4343400"/>
            <a:ext cx="3931920" cy="658368"/>
          </a:xfrm>
          <a:prstGeom prst="rect">
            <a:avLst/>
          </a:prstGeom>
          <a:noFill/>
          <a:ln/>
        </p:spPr>
        <p:txBody>
          <a:bodyPr wrap="square" lIns="0" tIns="0" rIns="0" bIns="0" rtlCol="0" anchor="ctr"/>
          <a:lstStyle/>
          <a:p>
            <a:pPr marL="0" indent="0">
              <a:buNone/>
            </a:pPr>
            <a:r>
              <a:rPr lang="en-US" sz="900" dirty="0">
                <a:solidFill>
                  <a:srgbClr val="E0AAFF"/>
                </a:solidFill>
                <a:latin typeface="Calibri" pitchFamily="34" charset="0"/>
                <a:ea typeface="Calibri" pitchFamily="34" charset="-122"/>
                <a:cs typeface="Calibri" pitchFamily="34" charset="-120"/>
              </a:rPr>
              <a:t>Employee Demographics (Age, Gender, </a:t>
            </a:r>
            <a:r>
              <a:rPr lang="en-US" sz="900" dirty="0" err="1">
                <a:solidFill>
                  <a:srgbClr val="E0AAFF"/>
                </a:solidFill>
                <a:latin typeface="Calibri" pitchFamily="34" charset="0"/>
                <a:ea typeface="Calibri" pitchFamily="34" charset="-122"/>
                <a:cs typeface="Calibri" pitchFamily="34" charset="-120"/>
              </a:rPr>
              <a:t>MaritalStatus</a:t>
            </a:r>
            <a:r>
              <a:rPr lang="en-US" sz="900" dirty="0">
                <a:solidFill>
                  <a:srgbClr val="E0AAFF"/>
                </a:solidFill>
                <a:latin typeface="Calibri" pitchFamily="34" charset="0"/>
                <a:ea typeface="Calibri" pitchFamily="34" charset="-122"/>
                <a:cs typeface="Calibri" pitchFamily="34" charset="-120"/>
              </a:rPr>
              <a:t>, Education level &amp; field)</a:t>
            </a:r>
            <a:endParaRPr lang="en-US" sz="900" dirty="0"/>
          </a:p>
          <a:p>
            <a:pPr marL="0" indent="0">
              <a:buNone/>
            </a:pPr>
            <a:r>
              <a:rPr lang="en-US" sz="900" dirty="0">
                <a:solidFill>
                  <a:srgbClr val="E0AAFF"/>
                </a:solidFill>
                <a:latin typeface="Calibri" pitchFamily="34" charset="0"/>
                <a:ea typeface="Calibri" pitchFamily="34" charset="-122"/>
                <a:cs typeface="Calibri" pitchFamily="34" charset="-120"/>
              </a:rPr>
              <a:t>Job Info (</a:t>
            </a:r>
            <a:r>
              <a:rPr lang="en-US" sz="900" dirty="0" err="1">
                <a:solidFill>
                  <a:srgbClr val="E0AAFF"/>
                </a:solidFill>
                <a:latin typeface="Calibri" pitchFamily="34" charset="0"/>
                <a:ea typeface="Calibri" pitchFamily="34" charset="-122"/>
                <a:cs typeface="Calibri" pitchFamily="34" charset="-120"/>
              </a:rPr>
              <a:t>EmpID</a:t>
            </a:r>
            <a:r>
              <a:rPr lang="en-US" sz="900" dirty="0">
                <a:solidFill>
                  <a:srgbClr val="E0AAFF"/>
                </a:solidFill>
                <a:latin typeface="Calibri" pitchFamily="34" charset="0"/>
                <a:ea typeface="Calibri" pitchFamily="34" charset="-122"/>
                <a:cs typeface="Calibri" pitchFamily="34" charset="-120"/>
              </a:rPr>
              <a:t>, Role, Level, Department, Involvement)</a:t>
            </a:r>
            <a:endParaRPr lang="en-US" sz="900" dirty="0"/>
          </a:p>
          <a:p>
            <a:pPr marL="0" indent="0">
              <a:buNone/>
            </a:pPr>
            <a:r>
              <a:rPr lang="en-US" sz="900" dirty="0">
                <a:solidFill>
                  <a:srgbClr val="E0AAFF"/>
                </a:solidFill>
                <a:latin typeface="Calibri" pitchFamily="34" charset="0"/>
                <a:ea typeface="Calibri" pitchFamily="34" charset="-122"/>
                <a:cs typeface="Calibri" pitchFamily="34" charset="-120"/>
              </a:rPr>
              <a:t>Satisfaction Scores (Job, Environment)</a:t>
            </a:r>
            <a:endParaRPr lang="en-US" sz="900" dirty="0"/>
          </a:p>
          <a:p>
            <a:pPr marL="0" indent="0">
              <a:buNone/>
            </a:pPr>
            <a:r>
              <a:rPr lang="en-US" sz="900" dirty="0">
                <a:solidFill>
                  <a:srgbClr val="E0AAFF"/>
                </a:solidFill>
                <a:latin typeface="Calibri" pitchFamily="34" charset="0"/>
                <a:ea typeface="Calibri" pitchFamily="34" charset="-122"/>
                <a:cs typeface="Calibri" pitchFamily="34" charset="-120"/>
              </a:rPr>
              <a:t>Travel &amp; Distance Attributes</a:t>
            </a:r>
          </a:p>
          <a:p>
            <a:pPr marL="0" indent="0">
              <a:buNone/>
            </a:pPr>
            <a:r>
              <a:rPr lang="en-US" sz="900" dirty="0">
                <a:solidFill>
                  <a:srgbClr val="E0AAFF"/>
                </a:solidFill>
                <a:latin typeface="Calibri" pitchFamily="34" charset="0"/>
                <a:ea typeface="Calibri" pitchFamily="34" charset="-122"/>
                <a:cs typeface="Calibri" pitchFamily="34" charset="-120"/>
              </a:rPr>
              <a:t>Attrition and Wages</a:t>
            </a:r>
          </a:p>
          <a:p>
            <a:pPr marL="0" indent="0">
              <a:buNone/>
            </a:pPr>
            <a:endParaRPr lang="en-US" sz="900" dirty="0"/>
          </a:p>
        </p:txBody>
      </p:sp>
      <p:sp>
        <p:nvSpPr>
          <p:cNvPr id="33" name="Shape 31"/>
          <p:cNvSpPr/>
          <p:nvPr/>
        </p:nvSpPr>
        <p:spPr>
          <a:xfrm>
            <a:off x="4754880" y="4023360"/>
            <a:ext cx="4160520" cy="1005840"/>
          </a:xfrm>
          <a:prstGeom prst="rect">
            <a:avLst/>
          </a:prstGeom>
          <a:solidFill>
            <a:srgbClr val="3D1A7F"/>
          </a:solidFill>
          <a:ln w="12700">
            <a:solidFill>
              <a:srgbClr val="9D4EDD"/>
            </a:solidFill>
            <a:prstDash val="solid"/>
          </a:ln>
          <a:effectLst>
            <a:outerShdw blurRad="152400" dist="25400" dir="8100000" algn="bl" rotWithShape="0">
              <a:srgbClr val="000000">
                <a:alpha val="15000"/>
              </a:srgbClr>
            </a:outerShdw>
          </a:effectLst>
        </p:spPr>
        <p:txBody>
          <a:bodyPr/>
          <a:lstStyle/>
          <a:p>
            <a:endParaRPr lang="en-IN"/>
          </a:p>
        </p:txBody>
      </p:sp>
      <p:sp>
        <p:nvSpPr>
          <p:cNvPr id="34" name="Text 32"/>
          <p:cNvSpPr/>
          <p:nvPr/>
        </p:nvSpPr>
        <p:spPr>
          <a:xfrm>
            <a:off x="4846320" y="4041648"/>
            <a:ext cx="3931920" cy="292608"/>
          </a:xfrm>
          <a:prstGeom prst="rect">
            <a:avLst/>
          </a:prstGeom>
          <a:noFill/>
          <a:ln/>
        </p:spPr>
        <p:txBody>
          <a:bodyPr wrap="square" lIns="0" tIns="0" rIns="0" bIns="0" rtlCol="0" anchor="ctr"/>
          <a:lstStyle/>
          <a:p>
            <a:pPr marL="0" indent="0">
              <a:buNone/>
            </a:pPr>
            <a:r>
              <a:rPr lang="en-US" sz="1100" b="1" dirty="0">
                <a:solidFill>
                  <a:srgbClr val="FFD700"/>
                </a:solidFill>
                <a:latin typeface="Calibri" pitchFamily="34" charset="0"/>
                <a:ea typeface="Calibri" pitchFamily="34" charset="-122"/>
                <a:cs typeface="Calibri" pitchFamily="34" charset="-120"/>
              </a:rPr>
              <a:t>HR Table 2 (HR2) – 18 Columns</a:t>
            </a:r>
            <a:endParaRPr lang="en-US" sz="1100" dirty="0"/>
          </a:p>
        </p:txBody>
      </p:sp>
      <p:sp>
        <p:nvSpPr>
          <p:cNvPr id="35" name="Text 33"/>
          <p:cNvSpPr/>
          <p:nvPr/>
        </p:nvSpPr>
        <p:spPr>
          <a:xfrm>
            <a:off x="4846320" y="4343400"/>
            <a:ext cx="3931920" cy="658368"/>
          </a:xfrm>
          <a:prstGeom prst="rect">
            <a:avLst/>
          </a:prstGeom>
          <a:noFill/>
          <a:ln/>
        </p:spPr>
        <p:txBody>
          <a:bodyPr wrap="square" lIns="0" tIns="0" rIns="0" bIns="0" rtlCol="0" anchor="ctr"/>
          <a:lstStyle/>
          <a:p>
            <a:pPr marL="0" indent="0">
              <a:buNone/>
            </a:pPr>
            <a:r>
              <a:rPr lang="en-US" sz="1000" dirty="0">
                <a:solidFill>
                  <a:srgbClr val="E0AAFF"/>
                </a:solidFill>
                <a:latin typeface="Calibri" pitchFamily="34" charset="0"/>
                <a:ea typeface="Calibri" pitchFamily="34" charset="-122"/>
                <a:cs typeface="Calibri" pitchFamily="34" charset="-120"/>
              </a:rPr>
              <a:t>Compensation (Monthly Income, Salary Hike &gt;18, </a:t>
            </a:r>
            <a:r>
              <a:rPr lang="en-US" sz="1000" dirty="0" err="1">
                <a:solidFill>
                  <a:srgbClr val="E0AAFF"/>
                </a:solidFill>
                <a:latin typeface="Calibri" pitchFamily="34" charset="0"/>
                <a:ea typeface="Calibri" pitchFamily="34" charset="-122"/>
                <a:cs typeface="Calibri" pitchFamily="34" charset="-120"/>
              </a:rPr>
              <a:t>Stn.Work</a:t>
            </a:r>
            <a:r>
              <a:rPr lang="en-US" sz="1000" dirty="0">
                <a:solidFill>
                  <a:srgbClr val="E0AAFF"/>
                </a:solidFill>
                <a:latin typeface="Calibri" pitchFamily="34" charset="0"/>
                <a:ea typeface="Calibri" pitchFamily="34" charset="-122"/>
                <a:cs typeface="Calibri" pitchFamily="34" charset="-120"/>
              </a:rPr>
              <a:t> hours, )</a:t>
            </a:r>
            <a:endParaRPr lang="en-US" sz="1000" dirty="0"/>
          </a:p>
          <a:p>
            <a:pPr marL="0" indent="0">
              <a:buNone/>
            </a:pPr>
            <a:r>
              <a:rPr lang="en-US" sz="1000" dirty="0">
                <a:solidFill>
                  <a:srgbClr val="E0AAFF"/>
                </a:solidFill>
                <a:latin typeface="Calibri" pitchFamily="34" charset="0"/>
                <a:ea typeface="Calibri" pitchFamily="34" charset="-122"/>
                <a:cs typeface="Calibri" pitchFamily="34" charset="-120"/>
              </a:rPr>
              <a:t>Career History (Companies Worked, Promotions, Stock option, )</a:t>
            </a:r>
            <a:endParaRPr lang="en-US" sz="1000" dirty="0"/>
          </a:p>
          <a:p>
            <a:pPr marL="0" indent="0">
              <a:buNone/>
            </a:pPr>
            <a:r>
              <a:rPr lang="en-US" sz="1000" dirty="0">
                <a:solidFill>
                  <a:srgbClr val="E0AAFF"/>
                </a:solidFill>
                <a:latin typeface="Calibri" pitchFamily="34" charset="0"/>
                <a:ea typeface="Calibri" pitchFamily="34" charset="-122"/>
                <a:cs typeface="Calibri" pitchFamily="34" charset="-120"/>
              </a:rPr>
              <a:t>Work Habits (OverTime, Training, Performance, Relationship, Worklife Bal, )</a:t>
            </a:r>
            <a:endParaRPr lang="en-US" sz="1000" dirty="0"/>
          </a:p>
          <a:p>
            <a:pPr marL="0" indent="0">
              <a:buNone/>
            </a:pPr>
            <a:r>
              <a:rPr lang="en-US" sz="1000" dirty="0">
                <a:solidFill>
                  <a:srgbClr val="E0AAFF"/>
                </a:solidFill>
                <a:latin typeface="Calibri" pitchFamily="34" charset="0"/>
                <a:ea typeface="Calibri" pitchFamily="34" charset="-122"/>
                <a:cs typeface="Calibri" pitchFamily="34" charset="-120"/>
              </a:rPr>
              <a:t>Retention Signals (Tenure, Manager Years, Yrs in Curr role)</a:t>
            </a:r>
          </a:p>
          <a:p>
            <a:pPr marL="0" indent="0">
              <a:buNone/>
            </a:pP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A0A3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5B2D8E"/>
          </a:solidFill>
          <a:ln w="12700">
            <a:solidFill>
              <a:srgbClr val="5B2D8E"/>
            </a:solidFill>
            <a:prstDash val="solid"/>
          </a:ln>
        </p:spPr>
        <p:txBody>
          <a:bodyPr/>
          <a:lstStyle/>
          <a:p>
            <a:endParaRPr lang="en-IN"/>
          </a:p>
        </p:txBody>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DATA CLEANING PROCESS</a:t>
            </a:r>
            <a:endParaRPr lang="en-US" sz="2200" dirty="0"/>
          </a:p>
        </p:txBody>
      </p:sp>
      <p:sp>
        <p:nvSpPr>
          <p:cNvPr id="4" name="Text 2"/>
          <p:cNvSpPr/>
          <p:nvPr/>
        </p:nvSpPr>
        <p:spPr>
          <a:xfrm>
            <a:off x="365760" y="713232"/>
            <a:ext cx="8412480" cy="347472"/>
          </a:xfrm>
          <a:prstGeom prst="rect">
            <a:avLst/>
          </a:prstGeom>
          <a:noFill/>
          <a:ln/>
        </p:spPr>
        <p:txBody>
          <a:bodyPr wrap="square" lIns="0" tIns="0" rIns="0" bIns="0" rtlCol="0" anchor="ctr"/>
          <a:lstStyle/>
          <a:p>
            <a:pPr marL="0" indent="0">
              <a:buNone/>
            </a:pPr>
            <a:r>
              <a:rPr lang="en-US" sz="1400" i="1" dirty="0">
                <a:solidFill>
                  <a:srgbClr val="E0AAFF"/>
                </a:solidFill>
                <a:latin typeface="Calibri" pitchFamily="34" charset="0"/>
                <a:ea typeface="Calibri" pitchFamily="34" charset="-122"/>
                <a:cs typeface="Calibri" pitchFamily="34" charset="-120"/>
              </a:rPr>
              <a:t>Transforming Raw HR Data into Analysis-Ready Tables</a:t>
            </a:r>
            <a:endParaRPr lang="en-US" sz="1400" dirty="0"/>
          </a:p>
        </p:txBody>
      </p:sp>
      <p:sp>
        <p:nvSpPr>
          <p:cNvPr id="5" name="Shape 3"/>
          <p:cNvSpPr/>
          <p:nvPr/>
        </p:nvSpPr>
        <p:spPr>
          <a:xfrm>
            <a:off x="274320" y="1188720"/>
            <a:ext cx="2743200" cy="1463040"/>
          </a:xfrm>
          <a:prstGeom prst="rect">
            <a:avLst/>
          </a:prstGeom>
          <a:solidFill>
            <a:srgbClr val="5B2D8E"/>
          </a:solidFill>
          <a:ln w="12700">
            <a:solidFill>
              <a:srgbClr val="5B2D8E"/>
            </a:solidFill>
            <a:prstDash val="solid"/>
          </a:ln>
          <a:effectLst>
            <a:outerShdw blurRad="101600" dist="38100" dir="8100000" algn="bl" rotWithShape="0">
              <a:srgbClr val="000000">
                <a:alpha val="25000"/>
              </a:srgbClr>
            </a:outerShdw>
          </a:effectLst>
        </p:spPr>
        <p:txBody>
          <a:bodyPr/>
          <a:lstStyle/>
          <a:p>
            <a:endParaRPr lang="en-IN"/>
          </a:p>
        </p:txBody>
      </p:sp>
      <p:sp>
        <p:nvSpPr>
          <p:cNvPr id="6" name="Shape 4"/>
          <p:cNvSpPr/>
          <p:nvPr/>
        </p:nvSpPr>
        <p:spPr>
          <a:xfrm>
            <a:off x="384048" y="1280160"/>
            <a:ext cx="457200" cy="457200"/>
          </a:xfrm>
          <a:prstGeom prst="ellipse">
            <a:avLst/>
          </a:prstGeom>
          <a:solidFill>
            <a:srgbClr val="FFFFFF">
              <a:alpha val="80000"/>
            </a:srgbClr>
          </a:solidFill>
          <a:ln w="12700">
            <a:solidFill>
              <a:srgbClr val="FFFFFF">
                <a:alpha val="80000"/>
              </a:srgbClr>
            </a:solidFill>
            <a:prstDash val="solid"/>
          </a:ln>
        </p:spPr>
        <p:txBody>
          <a:bodyPr/>
          <a:lstStyle/>
          <a:p>
            <a:endParaRPr lang="en-IN"/>
          </a:p>
        </p:txBody>
      </p:sp>
      <p:sp>
        <p:nvSpPr>
          <p:cNvPr id="7" name="Text 5"/>
          <p:cNvSpPr/>
          <p:nvPr/>
        </p:nvSpPr>
        <p:spPr>
          <a:xfrm>
            <a:off x="384048" y="12801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01</a:t>
            </a:r>
            <a:endParaRPr lang="en-US" sz="1400" dirty="0"/>
          </a:p>
        </p:txBody>
      </p:sp>
      <p:sp>
        <p:nvSpPr>
          <p:cNvPr id="8" name="Text 6"/>
          <p:cNvSpPr/>
          <p:nvPr/>
        </p:nvSpPr>
        <p:spPr>
          <a:xfrm>
            <a:off x="932688" y="1298448"/>
            <a:ext cx="1993392"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Source Data</a:t>
            </a:r>
            <a:endParaRPr lang="en-US" sz="1200" dirty="0"/>
          </a:p>
        </p:txBody>
      </p:sp>
      <p:sp>
        <p:nvSpPr>
          <p:cNvPr id="9" name="Text 7"/>
          <p:cNvSpPr/>
          <p:nvPr/>
        </p:nvSpPr>
        <p:spPr>
          <a:xfrm>
            <a:off x="384048" y="1755648"/>
            <a:ext cx="2542032" cy="822960"/>
          </a:xfrm>
          <a:prstGeom prst="rect">
            <a:avLst/>
          </a:prstGeom>
          <a:noFill/>
          <a:ln/>
        </p:spPr>
        <p:txBody>
          <a:bodyPr wrap="square" lIns="0" tIns="0" rIns="0" bIns="0" rtlCol="0" anchor="ctr"/>
          <a:lstStyle/>
          <a:p>
            <a:pPr marL="0" indent="0">
              <a:buNone/>
            </a:pPr>
            <a:r>
              <a:rPr lang="en-US" sz="1000" dirty="0">
                <a:solidFill>
                  <a:srgbClr val="E8E0F0"/>
                </a:solidFill>
                <a:latin typeface="Calibri" pitchFamily="34" charset="0"/>
                <a:ea typeface="Calibri" pitchFamily="34" charset="-122"/>
                <a:cs typeface="Calibri" pitchFamily="34" charset="-120"/>
              </a:rPr>
              <a:t>HR dataset with 36 raw columns — mixed types of data, converted to table and cleaned using power query.</a:t>
            </a:r>
          </a:p>
        </p:txBody>
      </p:sp>
      <p:sp>
        <p:nvSpPr>
          <p:cNvPr id="10" name="Shape 8"/>
          <p:cNvSpPr/>
          <p:nvPr/>
        </p:nvSpPr>
        <p:spPr>
          <a:xfrm>
            <a:off x="3218688" y="1188720"/>
            <a:ext cx="2743200" cy="1463040"/>
          </a:xfrm>
          <a:prstGeom prst="rect">
            <a:avLst/>
          </a:prstGeom>
          <a:solidFill>
            <a:srgbClr val="1D4ED8"/>
          </a:solidFill>
          <a:ln w="12700">
            <a:solidFill>
              <a:srgbClr val="1D4ED8"/>
            </a:solidFill>
            <a:prstDash val="solid"/>
          </a:ln>
          <a:effectLst>
            <a:outerShdw blurRad="101600" dist="38100" dir="8100000" algn="bl" rotWithShape="0">
              <a:srgbClr val="000000">
                <a:alpha val="25000"/>
              </a:srgbClr>
            </a:outerShdw>
          </a:effectLst>
        </p:spPr>
        <p:txBody>
          <a:bodyPr/>
          <a:lstStyle/>
          <a:p>
            <a:endParaRPr lang="en-IN"/>
          </a:p>
        </p:txBody>
      </p:sp>
      <p:sp>
        <p:nvSpPr>
          <p:cNvPr id="11" name="Shape 9"/>
          <p:cNvSpPr/>
          <p:nvPr/>
        </p:nvSpPr>
        <p:spPr>
          <a:xfrm>
            <a:off x="3328416" y="1280160"/>
            <a:ext cx="457200" cy="457200"/>
          </a:xfrm>
          <a:prstGeom prst="ellipse">
            <a:avLst/>
          </a:prstGeom>
          <a:solidFill>
            <a:srgbClr val="FFFFFF">
              <a:alpha val="80000"/>
            </a:srgbClr>
          </a:solidFill>
          <a:ln w="12700">
            <a:solidFill>
              <a:srgbClr val="FFFFFF">
                <a:alpha val="80000"/>
              </a:srgbClr>
            </a:solidFill>
            <a:prstDash val="solid"/>
          </a:ln>
        </p:spPr>
        <p:txBody>
          <a:bodyPr/>
          <a:lstStyle/>
          <a:p>
            <a:endParaRPr lang="en-IN"/>
          </a:p>
        </p:txBody>
      </p:sp>
      <p:sp>
        <p:nvSpPr>
          <p:cNvPr id="12" name="Text 10"/>
          <p:cNvSpPr/>
          <p:nvPr/>
        </p:nvSpPr>
        <p:spPr>
          <a:xfrm>
            <a:off x="3328416" y="12801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3" name="Text 11"/>
          <p:cNvSpPr/>
          <p:nvPr/>
        </p:nvSpPr>
        <p:spPr>
          <a:xfrm>
            <a:off x="3877056" y="1298448"/>
            <a:ext cx="1993392"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Null &amp; Duplicate Check</a:t>
            </a:r>
            <a:endParaRPr lang="en-US" sz="1200" dirty="0"/>
          </a:p>
        </p:txBody>
      </p:sp>
      <p:sp>
        <p:nvSpPr>
          <p:cNvPr id="14" name="Text 12"/>
          <p:cNvSpPr/>
          <p:nvPr/>
        </p:nvSpPr>
        <p:spPr>
          <a:xfrm>
            <a:off x="3328416" y="1755648"/>
            <a:ext cx="2542032" cy="822960"/>
          </a:xfrm>
          <a:prstGeom prst="rect">
            <a:avLst/>
          </a:prstGeom>
          <a:noFill/>
          <a:ln/>
        </p:spPr>
        <p:txBody>
          <a:bodyPr wrap="square" lIns="0" tIns="0" rIns="0" bIns="0" rtlCol="0" anchor="ctr"/>
          <a:lstStyle/>
          <a:p>
            <a:pPr marL="0" indent="0">
              <a:buNone/>
            </a:pPr>
            <a:r>
              <a:rPr lang="en-US" sz="1000" dirty="0">
                <a:solidFill>
                  <a:srgbClr val="E8E0F0"/>
                </a:solidFill>
                <a:latin typeface="Calibri" pitchFamily="34" charset="0"/>
                <a:ea typeface="Calibri" pitchFamily="34" charset="-122"/>
                <a:cs typeface="Calibri" pitchFamily="34" charset="-120"/>
              </a:rPr>
              <a:t>Identified and removed if any duplicate EmployeeNumbers. No Null values</a:t>
            </a:r>
            <a:endParaRPr lang="en-US" sz="1000" dirty="0"/>
          </a:p>
        </p:txBody>
      </p:sp>
      <p:sp>
        <p:nvSpPr>
          <p:cNvPr id="15" name="Shape 13"/>
          <p:cNvSpPr/>
          <p:nvPr/>
        </p:nvSpPr>
        <p:spPr>
          <a:xfrm>
            <a:off x="6163056" y="1188720"/>
            <a:ext cx="2743200" cy="1463040"/>
          </a:xfrm>
          <a:prstGeom prst="rect">
            <a:avLst/>
          </a:prstGeom>
          <a:solidFill>
            <a:srgbClr val="0F766E"/>
          </a:solidFill>
          <a:ln w="12700">
            <a:solidFill>
              <a:srgbClr val="0F766E"/>
            </a:solidFill>
            <a:prstDash val="solid"/>
          </a:ln>
          <a:effectLst>
            <a:outerShdw blurRad="101600" dist="38100" dir="8100000" algn="bl" rotWithShape="0">
              <a:srgbClr val="000000">
                <a:alpha val="25000"/>
              </a:srgbClr>
            </a:outerShdw>
          </a:effectLst>
        </p:spPr>
        <p:txBody>
          <a:bodyPr/>
          <a:lstStyle/>
          <a:p>
            <a:endParaRPr lang="en-IN"/>
          </a:p>
        </p:txBody>
      </p:sp>
      <p:sp>
        <p:nvSpPr>
          <p:cNvPr id="16" name="Shape 14"/>
          <p:cNvSpPr/>
          <p:nvPr/>
        </p:nvSpPr>
        <p:spPr>
          <a:xfrm>
            <a:off x="6272784" y="1280160"/>
            <a:ext cx="457200" cy="457200"/>
          </a:xfrm>
          <a:prstGeom prst="ellipse">
            <a:avLst/>
          </a:prstGeom>
          <a:solidFill>
            <a:srgbClr val="FFFFFF">
              <a:alpha val="80000"/>
            </a:srgbClr>
          </a:solidFill>
          <a:ln w="12700">
            <a:solidFill>
              <a:srgbClr val="FFFFFF">
                <a:alpha val="80000"/>
              </a:srgbClr>
            </a:solidFill>
            <a:prstDash val="solid"/>
          </a:ln>
        </p:spPr>
        <p:txBody>
          <a:bodyPr/>
          <a:lstStyle/>
          <a:p>
            <a:endParaRPr lang="en-IN"/>
          </a:p>
        </p:txBody>
      </p:sp>
      <p:sp>
        <p:nvSpPr>
          <p:cNvPr id="17" name="Text 15"/>
          <p:cNvSpPr/>
          <p:nvPr/>
        </p:nvSpPr>
        <p:spPr>
          <a:xfrm>
            <a:off x="6272784" y="12801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03</a:t>
            </a:r>
            <a:endParaRPr lang="en-US" sz="1400" dirty="0"/>
          </a:p>
        </p:txBody>
      </p:sp>
      <p:sp>
        <p:nvSpPr>
          <p:cNvPr id="18" name="Text 16"/>
          <p:cNvSpPr/>
          <p:nvPr/>
        </p:nvSpPr>
        <p:spPr>
          <a:xfrm>
            <a:off x="6821424" y="1298448"/>
            <a:ext cx="1993392"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Data Type Correction</a:t>
            </a:r>
            <a:endParaRPr lang="en-US" sz="1200" dirty="0"/>
          </a:p>
        </p:txBody>
      </p:sp>
      <p:sp>
        <p:nvSpPr>
          <p:cNvPr id="19" name="Text 17"/>
          <p:cNvSpPr/>
          <p:nvPr/>
        </p:nvSpPr>
        <p:spPr>
          <a:xfrm>
            <a:off x="6272784" y="1755648"/>
            <a:ext cx="2542032" cy="822960"/>
          </a:xfrm>
          <a:prstGeom prst="rect">
            <a:avLst/>
          </a:prstGeom>
          <a:noFill/>
          <a:ln/>
        </p:spPr>
        <p:txBody>
          <a:bodyPr wrap="square" lIns="0" tIns="0" rIns="0" bIns="0" rtlCol="0" anchor="ctr"/>
          <a:lstStyle/>
          <a:p>
            <a:pPr marL="0" indent="0">
              <a:buNone/>
            </a:pPr>
            <a:r>
              <a:rPr lang="en-US" sz="1000" dirty="0">
                <a:solidFill>
                  <a:srgbClr val="E8E0F0"/>
                </a:solidFill>
                <a:latin typeface="Calibri" pitchFamily="34" charset="0"/>
                <a:ea typeface="Calibri" pitchFamily="34" charset="-122"/>
                <a:cs typeface="Calibri" pitchFamily="34" charset="-120"/>
              </a:rPr>
              <a:t>Converted Satisfaction &amp; Level codes (1–4) and Age to INT. Boolean columns standardised to Yes/No text. Replaced extra characters with space in travel col.</a:t>
            </a:r>
            <a:endParaRPr lang="en-US" sz="1000" dirty="0"/>
          </a:p>
        </p:txBody>
      </p:sp>
      <p:sp>
        <p:nvSpPr>
          <p:cNvPr id="20" name="Shape 18"/>
          <p:cNvSpPr/>
          <p:nvPr/>
        </p:nvSpPr>
        <p:spPr>
          <a:xfrm>
            <a:off x="274320" y="2880360"/>
            <a:ext cx="2743200" cy="1463040"/>
          </a:xfrm>
          <a:prstGeom prst="rect">
            <a:avLst/>
          </a:prstGeom>
          <a:solidFill>
            <a:srgbClr val="B45309"/>
          </a:solidFill>
          <a:ln w="12700">
            <a:solidFill>
              <a:srgbClr val="B45309"/>
            </a:solidFill>
            <a:prstDash val="solid"/>
          </a:ln>
          <a:effectLst>
            <a:outerShdw blurRad="101600" dist="38100" dir="8100000" algn="bl" rotWithShape="0">
              <a:srgbClr val="000000">
                <a:alpha val="25000"/>
              </a:srgbClr>
            </a:outerShdw>
          </a:effectLst>
        </p:spPr>
        <p:txBody>
          <a:bodyPr/>
          <a:lstStyle/>
          <a:p>
            <a:endParaRPr lang="en-IN"/>
          </a:p>
        </p:txBody>
      </p:sp>
      <p:sp>
        <p:nvSpPr>
          <p:cNvPr id="21" name="Shape 19"/>
          <p:cNvSpPr/>
          <p:nvPr/>
        </p:nvSpPr>
        <p:spPr>
          <a:xfrm>
            <a:off x="384048" y="2971800"/>
            <a:ext cx="457200" cy="457200"/>
          </a:xfrm>
          <a:prstGeom prst="ellipse">
            <a:avLst/>
          </a:prstGeom>
          <a:solidFill>
            <a:srgbClr val="FFFFFF">
              <a:alpha val="80000"/>
            </a:srgbClr>
          </a:solidFill>
          <a:ln w="12700">
            <a:solidFill>
              <a:srgbClr val="FFFFFF">
                <a:alpha val="80000"/>
              </a:srgbClr>
            </a:solidFill>
            <a:prstDash val="solid"/>
          </a:ln>
        </p:spPr>
        <p:txBody>
          <a:bodyPr/>
          <a:lstStyle/>
          <a:p>
            <a:endParaRPr lang="en-IN"/>
          </a:p>
        </p:txBody>
      </p:sp>
      <p:sp>
        <p:nvSpPr>
          <p:cNvPr id="22" name="Text 20"/>
          <p:cNvSpPr/>
          <p:nvPr/>
        </p:nvSpPr>
        <p:spPr>
          <a:xfrm>
            <a:off x="384048" y="29718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04</a:t>
            </a:r>
            <a:endParaRPr lang="en-US" sz="1400" dirty="0"/>
          </a:p>
        </p:txBody>
      </p:sp>
      <p:sp>
        <p:nvSpPr>
          <p:cNvPr id="23" name="Text 21"/>
          <p:cNvSpPr/>
          <p:nvPr/>
        </p:nvSpPr>
        <p:spPr>
          <a:xfrm>
            <a:off x="932688" y="2990088"/>
            <a:ext cx="1993392"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rPr>
              <a:t>Removed Columns</a:t>
            </a:r>
            <a:endParaRPr lang="en-US" sz="1200" dirty="0"/>
          </a:p>
        </p:txBody>
      </p:sp>
      <p:sp>
        <p:nvSpPr>
          <p:cNvPr id="24" name="Text 22"/>
          <p:cNvSpPr/>
          <p:nvPr/>
        </p:nvSpPr>
        <p:spPr>
          <a:xfrm>
            <a:off x="384048" y="3447288"/>
            <a:ext cx="2542032" cy="822960"/>
          </a:xfrm>
          <a:prstGeom prst="rect">
            <a:avLst/>
          </a:prstGeom>
          <a:noFill/>
          <a:ln/>
        </p:spPr>
        <p:txBody>
          <a:bodyPr wrap="square" lIns="0" tIns="0" rIns="0" bIns="0" rtlCol="0" anchor="ctr"/>
          <a:lstStyle/>
          <a:p>
            <a:pPr marL="0" indent="0">
              <a:buNone/>
            </a:pPr>
            <a:r>
              <a:rPr lang="en-US" sz="1000" dirty="0">
                <a:solidFill>
                  <a:srgbClr val="E8E0F0"/>
                </a:solidFill>
                <a:latin typeface="Calibri" pitchFamily="34" charset="0"/>
                <a:ea typeface="Calibri" pitchFamily="34" charset="-122"/>
                <a:cs typeface="Calibri" pitchFamily="34" charset="-120"/>
              </a:rPr>
              <a:t>Removed col like Emp Count, Over 18, </a:t>
            </a:r>
            <a:r>
              <a:rPr lang="en-US" sz="1000" dirty="0" err="1">
                <a:solidFill>
                  <a:srgbClr val="E8E0F0"/>
                </a:solidFill>
                <a:latin typeface="Calibri" pitchFamily="34" charset="0"/>
                <a:ea typeface="Calibri" pitchFamily="34" charset="-122"/>
                <a:cs typeface="Calibri" pitchFamily="34" charset="-120"/>
              </a:rPr>
              <a:t>Stn.hours</a:t>
            </a:r>
            <a:r>
              <a:rPr lang="en-US" sz="1000" dirty="0">
                <a:solidFill>
                  <a:srgbClr val="E8E0F0"/>
                </a:solidFill>
                <a:latin typeface="Calibri" pitchFamily="34" charset="0"/>
                <a:ea typeface="Calibri" pitchFamily="34" charset="-122"/>
                <a:cs typeface="Calibri" pitchFamily="34" charset="-120"/>
              </a:rPr>
              <a:t>,  that are not useful for analysis.</a:t>
            </a:r>
            <a:endParaRPr lang="en-US" sz="1000" dirty="0"/>
          </a:p>
        </p:txBody>
      </p:sp>
      <p:sp>
        <p:nvSpPr>
          <p:cNvPr id="25" name="Shape 23"/>
          <p:cNvSpPr/>
          <p:nvPr/>
        </p:nvSpPr>
        <p:spPr>
          <a:xfrm>
            <a:off x="3218688" y="2880360"/>
            <a:ext cx="2743200" cy="1463040"/>
          </a:xfrm>
          <a:prstGeom prst="rect">
            <a:avLst/>
          </a:prstGeom>
          <a:solidFill>
            <a:srgbClr val="7C3AED"/>
          </a:solidFill>
          <a:ln w="12700">
            <a:solidFill>
              <a:srgbClr val="7C3AED"/>
            </a:solidFill>
            <a:prstDash val="solid"/>
          </a:ln>
          <a:effectLst>
            <a:outerShdw blurRad="101600" dist="38100" dir="8100000" algn="bl" rotWithShape="0">
              <a:srgbClr val="000000">
                <a:alpha val="25000"/>
              </a:srgbClr>
            </a:outerShdw>
          </a:effectLst>
        </p:spPr>
        <p:txBody>
          <a:bodyPr/>
          <a:lstStyle/>
          <a:p>
            <a:endParaRPr lang="en-IN"/>
          </a:p>
        </p:txBody>
      </p:sp>
      <p:sp>
        <p:nvSpPr>
          <p:cNvPr id="26" name="Shape 24"/>
          <p:cNvSpPr/>
          <p:nvPr/>
        </p:nvSpPr>
        <p:spPr>
          <a:xfrm>
            <a:off x="3328416" y="2971800"/>
            <a:ext cx="457200" cy="457200"/>
          </a:xfrm>
          <a:prstGeom prst="ellipse">
            <a:avLst/>
          </a:prstGeom>
          <a:solidFill>
            <a:srgbClr val="FFFFFF">
              <a:alpha val="80000"/>
            </a:srgbClr>
          </a:solidFill>
          <a:ln w="12700">
            <a:solidFill>
              <a:srgbClr val="FFFFFF">
                <a:alpha val="80000"/>
              </a:srgbClr>
            </a:solidFill>
            <a:prstDash val="solid"/>
          </a:ln>
        </p:spPr>
        <p:txBody>
          <a:bodyPr/>
          <a:lstStyle/>
          <a:p>
            <a:endParaRPr lang="en-IN"/>
          </a:p>
        </p:txBody>
      </p:sp>
      <p:sp>
        <p:nvSpPr>
          <p:cNvPr id="27" name="Text 25"/>
          <p:cNvSpPr/>
          <p:nvPr/>
        </p:nvSpPr>
        <p:spPr>
          <a:xfrm>
            <a:off x="3328416" y="29718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05</a:t>
            </a:r>
            <a:endParaRPr lang="en-US" sz="1400" dirty="0"/>
          </a:p>
        </p:txBody>
      </p:sp>
      <p:sp>
        <p:nvSpPr>
          <p:cNvPr id="28" name="Text 26"/>
          <p:cNvSpPr/>
          <p:nvPr/>
        </p:nvSpPr>
        <p:spPr>
          <a:xfrm>
            <a:off x="3877056" y="2990088"/>
            <a:ext cx="1993392"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Table Split (HR1 + HR2)</a:t>
            </a:r>
            <a:endParaRPr lang="en-US" sz="1200" dirty="0"/>
          </a:p>
        </p:txBody>
      </p:sp>
      <p:sp>
        <p:nvSpPr>
          <p:cNvPr id="29" name="Text 27"/>
          <p:cNvSpPr/>
          <p:nvPr/>
        </p:nvSpPr>
        <p:spPr>
          <a:xfrm>
            <a:off x="3328416" y="3447288"/>
            <a:ext cx="2542032" cy="822960"/>
          </a:xfrm>
          <a:prstGeom prst="rect">
            <a:avLst/>
          </a:prstGeom>
          <a:noFill/>
          <a:ln/>
        </p:spPr>
        <p:txBody>
          <a:bodyPr wrap="square" lIns="0" tIns="0" rIns="0" bIns="0" rtlCol="0" anchor="ctr"/>
          <a:lstStyle/>
          <a:p>
            <a:pPr marL="0" indent="0">
              <a:buNone/>
            </a:pPr>
            <a:r>
              <a:rPr lang="en-US" sz="1000" dirty="0">
                <a:solidFill>
                  <a:srgbClr val="E8E0F0"/>
                </a:solidFill>
                <a:latin typeface="Calibri" pitchFamily="34" charset="0"/>
                <a:ea typeface="Calibri" pitchFamily="34" charset="-122"/>
                <a:cs typeface="Calibri" pitchFamily="34" charset="-120"/>
              </a:rPr>
              <a:t>Dataset split into HR1 (demographics &amp; job) and HR2 (compensation &amp; tenure) for </a:t>
            </a:r>
            <a:r>
              <a:rPr lang="en-US" sz="1000" dirty="0" err="1">
                <a:solidFill>
                  <a:srgbClr val="E8E0F0"/>
                </a:solidFill>
                <a:latin typeface="Calibri" pitchFamily="34" charset="0"/>
                <a:ea typeface="Calibri" pitchFamily="34" charset="-122"/>
                <a:cs typeface="Calibri" pitchFamily="34" charset="-120"/>
              </a:rPr>
              <a:t>normalisation</a:t>
            </a:r>
            <a:r>
              <a:rPr lang="en-US" sz="1000" dirty="0">
                <a:solidFill>
                  <a:srgbClr val="E8E0F0"/>
                </a:solidFill>
                <a:latin typeface="Calibri" pitchFamily="34" charset="0"/>
                <a:ea typeface="Calibri" pitchFamily="34" charset="-122"/>
                <a:cs typeface="Calibri" pitchFamily="34" charset="-120"/>
              </a:rPr>
              <a:t>. And Connected both the tables using Emp Id as primary key.</a:t>
            </a:r>
            <a:endParaRPr lang="en-US" sz="1000" dirty="0"/>
          </a:p>
        </p:txBody>
      </p:sp>
      <p:sp>
        <p:nvSpPr>
          <p:cNvPr id="30" name="Shape 28"/>
          <p:cNvSpPr/>
          <p:nvPr/>
        </p:nvSpPr>
        <p:spPr>
          <a:xfrm>
            <a:off x="6163056" y="2880360"/>
            <a:ext cx="2743200" cy="1463040"/>
          </a:xfrm>
          <a:prstGeom prst="rect">
            <a:avLst/>
          </a:prstGeom>
          <a:solidFill>
            <a:srgbClr val="B91C1C"/>
          </a:solidFill>
          <a:ln w="12700">
            <a:solidFill>
              <a:srgbClr val="B91C1C"/>
            </a:solidFill>
            <a:prstDash val="solid"/>
          </a:ln>
          <a:effectLst>
            <a:outerShdw blurRad="101600" dist="38100" dir="8100000" algn="bl" rotWithShape="0">
              <a:srgbClr val="000000">
                <a:alpha val="25000"/>
              </a:srgbClr>
            </a:outerShdw>
          </a:effectLst>
        </p:spPr>
        <p:txBody>
          <a:bodyPr/>
          <a:lstStyle/>
          <a:p>
            <a:endParaRPr lang="en-IN"/>
          </a:p>
        </p:txBody>
      </p:sp>
      <p:sp>
        <p:nvSpPr>
          <p:cNvPr id="31" name="Shape 29"/>
          <p:cNvSpPr/>
          <p:nvPr/>
        </p:nvSpPr>
        <p:spPr>
          <a:xfrm>
            <a:off x="6272784" y="2971800"/>
            <a:ext cx="457200" cy="457200"/>
          </a:xfrm>
          <a:prstGeom prst="ellipse">
            <a:avLst/>
          </a:prstGeom>
          <a:solidFill>
            <a:srgbClr val="FFFFFF">
              <a:alpha val="80000"/>
            </a:srgbClr>
          </a:solidFill>
          <a:ln w="12700">
            <a:solidFill>
              <a:srgbClr val="FFFFFF">
                <a:alpha val="80000"/>
              </a:srgbClr>
            </a:solidFill>
            <a:prstDash val="solid"/>
          </a:ln>
        </p:spPr>
        <p:txBody>
          <a:bodyPr/>
          <a:lstStyle/>
          <a:p>
            <a:endParaRPr lang="en-IN"/>
          </a:p>
        </p:txBody>
      </p:sp>
      <p:sp>
        <p:nvSpPr>
          <p:cNvPr id="32" name="Text 30"/>
          <p:cNvSpPr/>
          <p:nvPr/>
        </p:nvSpPr>
        <p:spPr>
          <a:xfrm>
            <a:off x="6272784" y="29718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06</a:t>
            </a:r>
            <a:endParaRPr lang="en-US" sz="1400" dirty="0"/>
          </a:p>
        </p:txBody>
      </p:sp>
      <p:sp>
        <p:nvSpPr>
          <p:cNvPr id="33" name="Text 31"/>
          <p:cNvSpPr/>
          <p:nvPr/>
        </p:nvSpPr>
        <p:spPr>
          <a:xfrm>
            <a:off x="6821424" y="2990088"/>
            <a:ext cx="1993392" cy="34747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Column Validation</a:t>
            </a:r>
            <a:endParaRPr lang="en-US" sz="1200" dirty="0"/>
          </a:p>
        </p:txBody>
      </p:sp>
      <p:sp>
        <p:nvSpPr>
          <p:cNvPr id="34" name="Text 32"/>
          <p:cNvSpPr/>
          <p:nvPr/>
        </p:nvSpPr>
        <p:spPr>
          <a:xfrm>
            <a:off x="6272784" y="3447288"/>
            <a:ext cx="2542032" cy="822960"/>
          </a:xfrm>
          <a:prstGeom prst="rect">
            <a:avLst/>
          </a:prstGeom>
          <a:noFill/>
          <a:ln/>
        </p:spPr>
        <p:txBody>
          <a:bodyPr wrap="square" lIns="0" tIns="0" rIns="0" bIns="0" rtlCol="0" anchor="ctr"/>
          <a:lstStyle/>
          <a:p>
            <a:pPr marL="0" indent="0">
              <a:buNone/>
            </a:pPr>
            <a:r>
              <a:rPr lang="en-US" sz="1000" dirty="0">
                <a:solidFill>
                  <a:srgbClr val="E8E0F0"/>
                </a:solidFill>
                <a:latin typeface="Calibri" pitchFamily="34" charset="0"/>
                <a:ea typeface="Calibri" pitchFamily="34" charset="-122"/>
                <a:cs typeface="Calibri" pitchFamily="34" charset="-120"/>
              </a:rPr>
              <a:t>Final schema validated against SQL CREATE TABLE definitions before LOAD DATA INFILE import.</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0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D1B69"/>
          </a:solidFill>
          <a:ln w="12700">
            <a:solidFill>
              <a:srgbClr val="2D1B69"/>
            </a:solidFill>
            <a:prstDash val="solid"/>
          </a:ln>
        </p:spPr>
        <p:txBody>
          <a:bodyPr/>
          <a:lstStyle/>
          <a:p>
            <a:endParaRPr lang="en-IN"/>
          </a:p>
        </p:txBody>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FEATURE ENGINEERING — BUCKET COLUMNS</a:t>
            </a:r>
            <a:endParaRPr lang="en-US" sz="2000" dirty="0"/>
          </a:p>
        </p:txBody>
      </p:sp>
      <p:sp>
        <p:nvSpPr>
          <p:cNvPr id="4" name="Text 2"/>
          <p:cNvSpPr/>
          <p:nvPr/>
        </p:nvSpPr>
        <p:spPr>
          <a:xfrm>
            <a:off x="365760" y="713232"/>
            <a:ext cx="8412480" cy="320040"/>
          </a:xfrm>
          <a:prstGeom prst="rect">
            <a:avLst/>
          </a:prstGeom>
          <a:noFill/>
          <a:ln/>
        </p:spPr>
        <p:txBody>
          <a:bodyPr wrap="square" lIns="0" tIns="0" rIns="0" bIns="0" rtlCol="0" anchor="ctr"/>
          <a:lstStyle/>
          <a:p>
            <a:pPr marL="0" indent="0">
              <a:buNone/>
            </a:pPr>
            <a:r>
              <a:rPr lang="en-US" sz="1200" i="1" dirty="0">
                <a:solidFill>
                  <a:srgbClr val="7B2FBE"/>
                </a:solidFill>
                <a:latin typeface="Calibri" pitchFamily="34" charset="0"/>
                <a:ea typeface="Calibri" pitchFamily="34" charset="-122"/>
                <a:cs typeface="Calibri" pitchFamily="34" charset="-120"/>
              </a:rPr>
              <a:t>Converting numeric/coded fields into human-readable categorical buckets for richer analysis</a:t>
            </a:r>
            <a:endParaRPr lang="en-US" sz="1200" dirty="0"/>
          </a:p>
        </p:txBody>
      </p:sp>
      <p:sp>
        <p:nvSpPr>
          <p:cNvPr id="5" name="Shape 3"/>
          <p:cNvSpPr/>
          <p:nvPr/>
        </p:nvSpPr>
        <p:spPr>
          <a:xfrm>
            <a:off x="274320" y="1051560"/>
            <a:ext cx="8595360" cy="320040"/>
          </a:xfrm>
          <a:prstGeom prst="rect">
            <a:avLst/>
          </a:prstGeom>
          <a:solidFill>
            <a:srgbClr val="2D1B69"/>
          </a:solidFill>
          <a:ln w="12700">
            <a:solidFill>
              <a:srgbClr val="2D1B69"/>
            </a:solidFill>
            <a:prstDash val="solid"/>
          </a:ln>
        </p:spPr>
        <p:txBody>
          <a:bodyPr/>
          <a:lstStyle/>
          <a:p>
            <a:endParaRPr lang="en-IN"/>
          </a:p>
        </p:txBody>
      </p:sp>
      <p:sp>
        <p:nvSpPr>
          <p:cNvPr id="6" name="Text 4"/>
          <p:cNvSpPr/>
          <p:nvPr/>
        </p:nvSpPr>
        <p:spPr>
          <a:xfrm>
            <a:off x="320040" y="1051560"/>
            <a:ext cx="2240280" cy="320040"/>
          </a:xfrm>
          <a:prstGeom prst="rect">
            <a:avLst/>
          </a:prstGeom>
          <a:noFill/>
          <a:ln/>
        </p:spPr>
        <p:txBody>
          <a:bodyPr wrap="square" lIns="50800" tIns="50800" rIns="50800" bIns="5080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Column → Bucket</a:t>
            </a:r>
            <a:endParaRPr lang="en-US" sz="1100" dirty="0"/>
          </a:p>
        </p:txBody>
      </p:sp>
      <p:sp>
        <p:nvSpPr>
          <p:cNvPr id="7" name="Text 5"/>
          <p:cNvSpPr/>
          <p:nvPr/>
        </p:nvSpPr>
        <p:spPr>
          <a:xfrm>
            <a:off x="2606040" y="1051560"/>
            <a:ext cx="2926080" cy="320040"/>
          </a:xfrm>
          <a:prstGeom prst="rect">
            <a:avLst/>
          </a:prstGeom>
          <a:noFill/>
          <a:ln/>
        </p:spPr>
        <p:txBody>
          <a:bodyPr wrap="square" lIns="50800" tIns="50800" rIns="50800" bIns="5080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Bucket Labels</a:t>
            </a:r>
            <a:endParaRPr lang="en-US" sz="1100" dirty="0"/>
          </a:p>
        </p:txBody>
      </p:sp>
      <p:sp>
        <p:nvSpPr>
          <p:cNvPr id="8" name="Text 6"/>
          <p:cNvSpPr/>
          <p:nvPr/>
        </p:nvSpPr>
        <p:spPr>
          <a:xfrm>
            <a:off x="5577840" y="1051560"/>
            <a:ext cx="3291840" cy="320040"/>
          </a:xfrm>
          <a:prstGeom prst="rect">
            <a:avLst/>
          </a:prstGeom>
          <a:noFill/>
          <a:ln/>
        </p:spPr>
        <p:txBody>
          <a:bodyPr wrap="square" lIns="50800" tIns="50800" rIns="50800" bIns="5080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Analytical Purpose</a:t>
            </a:r>
            <a:endParaRPr lang="en-US" sz="1100" dirty="0"/>
          </a:p>
        </p:txBody>
      </p:sp>
      <p:sp>
        <p:nvSpPr>
          <p:cNvPr id="9" name="Shape 7"/>
          <p:cNvSpPr/>
          <p:nvPr/>
        </p:nvSpPr>
        <p:spPr>
          <a:xfrm>
            <a:off x="274320" y="1371600"/>
            <a:ext cx="8595360" cy="347472"/>
          </a:xfrm>
          <a:prstGeom prst="rect">
            <a:avLst/>
          </a:prstGeom>
          <a:solidFill>
            <a:srgbClr val="F0E8FF"/>
          </a:solidFill>
          <a:ln w="6350">
            <a:solidFill>
              <a:srgbClr val="D8C8F0"/>
            </a:solidFill>
            <a:prstDash val="solid"/>
          </a:ln>
        </p:spPr>
        <p:txBody>
          <a:bodyPr/>
          <a:lstStyle/>
          <a:p>
            <a:endParaRPr lang="en-IN"/>
          </a:p>
        </p:txBody>
      </p:sp>
      <p:sp>
        <p:nvSpPr>
          <p:cNvPr id="10" name="Text 8"/>
          <p:cNvSpPr/>
          <p:nvPr/>
        </p:nvSpPr>
        <p:spPr>
          <a:xfrm>
            <a:off x="320040" y="1371600"/>
            <a:ext cx="2240280" cy="347472"/>
          </a:xfrm>
          <a:prstGeom prst="rect">
            <a:avLst/>
          </a:prstGeom>
          <a:noFill/>
          <a:ln/>
        </p:spPr>
        <p:txBody>
          <a:bodyPr wrap="square" lIns="38100" tIns="38100" rIns="38100" bIns="38100" rtlCol="0" anchor="ctr"/>
          <a:lstStyle/>
          <a:p>
            <a:pPr marL="0" indent="0">
              <a:buNone/>
            </a:pPr>
            <a:r>
              <a:rPr lang="en-US" sz="950" b="1" dirty="0">
                <a:solidFill>
                  <a:srgbClr val="2D1B69"/>
                </a:solidFill>
                <a:latin typeface="Calibri" pitchFamily="34" charset="0"/>
                <a:ea typeface="Calibri" pitchFamily="34" charset="-122"/>
                <a:cs typeface="Calibri" pitchFamily="34" charset="-120"/>
              </a:rPr>
              <a:t>Age → AgeB</a:t>
            </a:r>
            <a:endParaRPr lang="en-US" sz="950" dirty="0"/>
          </a:p>
        </p:txBody>
      </p:sp>
      <p:sp>
        <p:nvSpPr>
          <p:cNvPr id="11" name="Text 9"/>
          <p:cNvSpPr/>
          <p:nvPr/>
        </p:nvSpPr>
        <p:spPr>
          <a:xfrm>
            <a:off x="2606040" y="1371600"/>
            <a:ext cx="2926080" cy="347472"/>
          </a:xfrm>
          <a:prstGeom prst="rect">
            <a:avLst/>
          </a:prstGeom>
          <a:noFill/>
          <a:ln/>
        </p:spPr>
        <p:txBody>
          <a:bodyPr wrap="square" lIns="38100" tIns="38100" rIns="38100" bIns="38100" rtlCol="0" anchor="ctr"/>
          <a:lstStyle/>
          <a:p>
            <a:pPr marL="0" indent="0">
              <a:buNone/>
            </a:pPr>
            <a:r>
              <a:rPr lang="en-US" sz="900" dirty="0">
                <a:solidFill>
                  <a:srgbClr val="5B2D8E"/>
                </a:solidFill>
                <a:latin typeface="Calibri" pitchFamily="34" charset="0"/>
                <a:ea typeface="Calibri" pitchFamily="34" charset="-122"/>
                <a:cs typeface="Calibri" pitchFamily="34" charset="-120"/>
              </a:rPr>
              <a:t>18-30 | 30-40 | 40-50 | &gt;50</a:t>
            </a:r>
            <a:endParaRPr lang="en-US" sz="900" dirty="0"/>
          </a:p>
        </p:txBody>
      </p:sp>
      <p:sp>
        <p:nvSpPr>
          <p:cNvPr id="12" name="Text 10"/>
          <p:cNvSpPr/>
          <p:nvPr/>
        </p:nvSpPr>
        <p:spPr>
          <a:xfrm>
            <a:off x="5577840" y="1371600"/>
            <a:ext cx="3246120" cy="347472"/>
          </a:xfrm>
          <a:prstGeom prst="rect">
            <a:avLst/>
          </a:prstGeom>
          <a:noFill/>
          <a:ln/>
        </p:spPr>
        <p:txBody>
          <a:bodyPr wrap="square" lIns="38100" tIns="38100" rIns="38100" bIns="38100" rtlCol="0" anchor="ctr"/>
          <a:lstStyle/>
          <a:p>
            <a:pPr marL="0" indent="0">
              <a:buNone/>
            </a:pPr>
            <a:r>
              <a:rPr lang="en-US" sz="900" dirty="0">
                <a:solidFill>
                  <a:srgbClr val="1A0A3C"/>
                </a:solidFill>
                <a:latin typeface="Calibri" pitchFamily="34" charset="0"/>
                <a:ea typeface="Calibri" pitchFamily="34" charset="-122"/>
                <a:cs typeface="Calibri" pitchFamily="34" charset="-120"/>
              </a:rPr>
              <a:t>Generational segmentation for attrition &amp; career stage analysis</a:t>
            </a:r>
            <a:endParaRPr lang="en-US" sz="900" dirty="0"/>
          </a:p>
        </p:txBody>
      </p:sp>
      <p:sp>
        <p:nvSpPr>
          <p:cNvPr id="13" name="Shape 11"/>
          <p:cNvSpPr/>
          <p:nvPr/>
        </p:nvSpPr>
        <p:spPr>
          <a:xfrm>
            <a:off x="274320" y="1732788"/>
            <a:ext cx="8595360" cy="347472"/>
          </a:xfrm>
          <a:prstGeom prst="rect">
            <a:avLst/>
          </a:prstGeom>
          <a:solidFill>
            <a:srgbClr val="FFFFFF"/>
          </a:solidFill>
          <a:ln w="6350">
            <a:solidFill>
              <a:srgbClr val="D8C8F0"/>
            </a:solidFill>
            <a:prstDash val="solid"/>
          </a:ln>
        </p:spPr>
        <p:txBody>
          <a:bodyPr/>
          <a:lstStyle/>
          <a:p>
            <a:endParaRPr lang="en-IN"/>
          </a:p>
        </p:txBody>
      </p:sp>
      <p:sp>
        <p:nvSpPr>
          <p:cNvPr id="14" name="Text 12"/>
          <p:cNvSpPr/>
          <p:nvPr/>
        </p:nvSpPr>
        <p:spPr>
          <a:xfrm>
            <a:off x="320040" y="1732788"/>
            <a:ext cx="2240280" cy="347472"/>
          </a:xfrm>
          <a:prstGeom prst="rect">
            <a:avLst/>
          </a:prstGeom>
          <a:noFill/>
          <a:ln/>
        </p:spPr>
        <p:txBody>
          <a:bodyPr wrap="square" lIns="38100" tIns="38100" rIns="38100" bIns="38100" rtlCol="0" anchor="ctr"/>
          <a:lstStyle/>
          <a:p>
            <a:pPr marL="0" indent="0">
              <a:buNone/>
            </a:pPr>
            <a:r>
              <a:rPr lang="en-US" sz="950" b="1" dirty="0">
                <a:solidFill>
                  <a:srgbClr val="2D1B69"/>
                </a:solidFill>
                <a:latin typeface="Calibri" pitchFamily="34" charset="0"/>
                <a:ea typeface="Calibri" pitchFamily="34" charset="-122"/>
                <a:cs typeface="Calibri" pitchFamily="34" charset="-120"/>
              </a:rPr>
              <a:t>DistanceFromHome → DFHB</a:t>
            </a:r>
            <a:endParaRPr lang="en-US" sz="950" dirty="0"/>
          </a:p>
        </p:txBody>
      </p:sp>
      <p:sp>
        <p:nvSpPr>
          <p:cNvPr id="15" name="Text 13"/>
          <p:cNvSpPr/>
          <p:nvPr/>
        </p:nvSpPr>
        <p:spPr>
          <a:xfrm>
            <a:off x="2606040" y="1732788"/>
            <a:ext cx="2926080" cy="347472"/>
          </a:xfrm>
          <a:prstGeom prst="rect">
            <a:avLst/>
          </a:prstGeom>
          <a:noFill/>
          <a:ln/>
        </p:spPr>
        <p:txBody>
          <a:bodyPr wrap="square" lIns="38100" tIns="38100" rIns="38100" bIns="38100" rtlCol="0" anchor="ctr"/>
          <a:lstStyle/>
          <a:p>
            <a:pPr marL="0" indent="0">
              <a:buNone/>
            </a:pPr>
            <a:r>
              <a:rPr lang="en-US" sz="900" dirty="0">
                <a:solidFill>
                  <a:srgbClr val="5B2D8E"/>
                </a:solidFill>
                <a:latin typeface="Calibri" pitchFamily="34" charset="0"/>
                <a:ea typeface="Calibri" pitchFamily="34" charset="-122"/>
                <a:cs typeface="Calibri" pitchFamily="34" charset="-120"/>
              </a:rPr>
              <a:t>&lt;10kms | 10-30kms | &gt;30kms</a:t>
            </a:r>
            <a:endParaRPr lang="en-US" sz="900" dirty="0"/>
          </a:p>
        </p:txBody>
      </p:sp>
      <p:sp>
        <p:nvSpPr>
          <p:cNvPr id="16" name="Text 14"/>
          <p:cNvSpPr/>
          <p:nvPr/>
        </p:nvSpPr>
        <p:spPr>
          <a:xfrm>
            <a:off x="5577840" y="1732788"/>
            <a:ext cx="3246120" cy="347472"/>
          </a:xfrm>
          <a:prstGeom prst="rect">
            <a:avLst/>
          </a:prstGeom>
          <a:noFill/>
          <a:ln/>
        </p:spPr>
        <p:txBody>
          <a:bodyPr wrap="square" lIns="38100" tIns="38100" rIns="38100" bIns="38100" rtlCol="0" anchor="ctr"/>
          <a:lstStyle/>
          <a:p>
            <a:pPr marL="0" indent="0">
              <a:buNone/>
            </a:pPr>
            <a:r>
              <a:rPr lang="en-US" sz="900" dirty="0">
                <a:solidFill>
                  <a:srgbClr val="1A0A3C"/>
                </a:solidFill>
                <a:latin typeface="Calibri" pitchFamily="34" charset="0"/>
                <a:ea typeface="Calibri" pitchFamily="34" charset="-122"/>
                <a:cs typeface="Calibri" pitchFamily="34" charset="-120"/>
              </a:rPr>
              <a:t>Commute stress impact on attrition &amp; WLB</a:t>
            </a:r>
            <a:endParaRPr lang="en-US" sz="900" dirty="0"/>
          </a:p>
        </p:txBody>
      </p:sp>
      <p:sp>
        <p:nvSpPr>
          <p:cNvPr id="17" name="Shape 15"/>
          <p:cNvSpPr/>
          <p:nvPr/>
        </p:nvSpPr>
        <p:spPr>
          <a:xfrm>
            <a:off x="274320" y="2093976"/>
            <a:ext cx="8595360" cy="347472"/>
          </a:xfrm>
          <a:prstGeom prst="rect">
            <a:avLst/>
          </a:prstGeom>
          <a:solidFill>
            <a:srgbClr val="F0E8FF"/>
          </a:solidFill>
          <a:ln w="6350">
            <a:solidFill>
              <a:srgbClr val="D8C8F0"/>
            </a:solidFill>
            <a:prstDash val="solid"/>
          </a:ln>
        </p:spPr>
        <p:txBody>
          <a:bodyPr/>
          <a:lstStyle/>
          <a:p>
            <a:endParaRPr lang="en-IN"/>
          </a:p>
        </p:txBody>
      </p:sp>
      <p:sp>
        <p:nvSpPr>
          <p:cNvPr id="18" name="Text 16"/>
          <p:cNvSpPr/>
          <p:nvPr/>
        </p:nvSpPr>
        <p:spPr>
          <a:xfrm>
            <a:off x="320040" y="2093976"/>
            <a:ext cx="2240280" cy="347472"/>
          </a:xfrm>
          <a:prstGeom prst="rect">
            <a:avLst/>
          </a:prstGeom>
          <a:noFill/>
          <a:ln/>
        </p:spPr>
        <p:txBody>
          <a:bodyPr wrap="square" lIns="38100" tIns="38100" rIns="38100" bIns="38100" rtlCol="0" anchor="ctr"/>
          <a:lstStyle/>
          <a:p>
            <a:pPr marL="0" indent="0">
              <a:buNone/>
            </a:pPr>
            <a:r>
              <a:rPr lang="en-US" sz="950" b="1" dirty="0">
                <a:solidFill>
                  <a:srgbClr val="2D1B69"/>
                </a:solidFill>
                <a:latin typeface="Calibri" pitchFamily="34" charset="0"/>
                <a:ea typeface="Calibri" pitchFamily="34" charset="-122"/>
                <a:cs typeface="Calibri" pitchFamily="34" charset="-120"/>
              </a:rPr>
              <a:t>MonthlyIncome → MonIncB</a:t>
            </a:r>
            <a:endParaRPr lang="en-US" sz="950" dirty="0"/>
          </a:p>
        </p:txBody>
      </p:sp>
      <p:sp>
        <p:nvSpPr>
          <p:cNvPr id="19" name="Text 17"/>
          <p:cNvSpPr/>
          <p:nvPr/>
        </p:nvSpPr>
        <p:spPr>
          <a:xfrm>
            <a:off x="2606040" y="2093976"/>
            <a:ext cx="2926080" cy="347472"/>
          </a:xfrm>
          <a:prstGeom prst="rect">
            <a:avLst/>
          </a:prstGeom>
          <a:noFill/>
          <a:ln/>
        </p:spPr>
        <p:txBody>
          <a:bodyPr wrap="square" lIns="38100" tIns="38100" rIns="38100" bIns="38100" rtlCol="0" anchor="ctr"/>
          <a:lstStyle/>
          <a:p>
            <a:pPr marL="0" indent="0">
              <a:buNone/>
            </a:pPr>
            <a:r>
              <a:rPr lang="en-US" sz="900" dirty="0">
                <a:solidFill>
                  <a:srgbClr val="5B2D8E"/>
                </a:solidFill>
                <a:latin typeface="Calibri" pitchFamily="34" charset="0"/>
                <a:ea typeface="Calibri" pitchFamily="34" charset="-122"/>
                <a:cs typeface="Calibri" pitchFamily="34" charset="-120"/>
              </a:rPr>
              <a:t>&lt;10k | 10k-20k | 20k-30k | 30k-40k | &gt;40k</a:t>
            </a:r>
            <a:endParaRPr lang="en-US" sz="900" dirty="0"/>
          </a:p>
        </p:txBody>
      </p:sp>
      <p:sp>
        <p:nvSpPr>
          <p:cNvPr id="20" name="Text 18"/>
          <p:cNvSpPr/>
          <p:nvPr/>
        </p:nvSpPr>
        <p:spPr>
          <a:xfrm>
            <a:off x="5577840" y="2093976"/>
            <a:ext cx="3246120" cy="347472"/>
          </a:xfrm>
          <a:prstGeom prst="rect">
            <a:avLst/>
          </a:prstGeom>
          <a:noFill/>
          <a:ln/>
        </p:spPr>
        <p:txBody>
          <a:bodyPr wrap="square" lIns="38100" tIns="38100" rIns="38100" bIns="38100" rtlCol="0" anchor="ctr"/>
          <a:lstStyle/>
          <a:p>
            <a:pPr marL="0" indent="0">
              <a:buNone/>
            </a:pPr>
            <a:r>
              <a:rPr lang="en-US" sz="900" dirty="0">
                <a:solidFill>
                  <a:srgbClr val="1A0A3C"/>
                </a:solidFill>
                <a:latin typeface="Calibri" pitchFamily="34" charset="0"/>
                <a:ea typeface="Calibri" pitchFamily="34" charset="-122"/>
                <a:cs typeface="Calibri" pitchFamily="34" charset="-120"/>
              </a:rPr>
              <a:t>Pay band grouping for compensation equity analysis</a:t>
            </a:r>
            <a:endParaRPr lang="en-US" sz="900" dirty="0"/>
          </a:p>
        </p:txBody>
      </p:sp>
      <p:sp>
        <p:nvSpPr>
          <p:cNvPr id="21" name="Shape 19"/>
          <p:cNvSpPr/>
          <p:nvPr/>
        </p:nvSpPr>
        <p:spPr>
          <a:xfrm>
            <a:off x="274320" y="2455164"/>
            <a:ext cx="8595360" cy="347472"/>
          </a:xfrm>
          <a:prstGeom prst="rect">
            <a:avLst/>
          </a:prstGeom>
          <a:solidFill>
            <a:srgbClr val="FFFFFF"/>
          </a:solidFill>
          <a:ln w="6350">
            <a:solidFill>
              <a:srgbClr val="D8C8F0"/>
            </a:solidFill>
            <a:prstDash val="solid"/>
          </a:ln>
        </p:spPr>
        <p:txBody>
          <a:bodyPr/>
          <a:lstStyle/>
          <a:p>
            <a:endParaRPr lang="en-IN"/>
          </a:p>
        </p:txBody>
      </p:sp>
      <p:sp>
        <p:nvSpPr>
          <p:cNvPr id="22" name="Text 20"/>
          <p:cNvSpPr/>
          <p:nvPr/>
        </p:nvSpPr>
        <p:spPr>
          <a:xfrm>
            <a:off x="320040" y="2455164"/>
            <a:ext cx="2240280" cy="347472"/>
          </a:xfrm>
          <a:prstGeom prst="rect">
            <a:avLst/>
          </a:prstGeom>
          <a:noFill/>
          <a:ln/>
        </p:spPr>
        <p:txBody>
          <a:bodyPr wrap="square" lIns="38100" tIns="38100" rIns="38100" bIns="38100" rtlCol="0" anchor="ctr"/>
          <a:lstStyle/>
          <a:p>
            <a:pPr marL="0" indent="0">
              <a:buNone/>
            </a:pPr>
            <a:r>
              <a:rPr lang="en-US" sz="950" b="1" dirty="0">
                <a:solidFill>
                  <a:srgbClr val="2D1B69"/>
                </a:solidFill>
                <a:latin typeface="Calibri" pitchFamily="34" charset="0"/>
                <a:ea typeface="Calibri" pitchFamily="34" charset="-122"/>
                <a:cs typeface="Calibri" pitchFamily="34" charset="-120"/>
              </a:rPr>
              <a:t>JobLevel → JobLevelB</a:t>
            </a:r>
            <a:endParaRPr lang="en-US" sz="950" dirty="0"/>
          </a:p>
        </p:txBody>
      </p:sp>
      <p:sp>
        <p:nvSpPr>
          <p:cNvPr id="23" name="Text 21"/>
          <p:cNvSpPr/>
          <p:nvPr/>
        </p:nvSpPr>
        <p:spPr>
          <a:xfrm>
            <a:off x="2606040" y="2455164"/>
            <a:ext cx="2926080" cy="347472"/>
          </a:xfrm>
          <a:prstGeom prst="rect">
            <a:avLst/>
          </a:prstGeom>
          <a:noFill/>
          <a:ln/>
        </p:spPr>
        <p:txBody>
          <a:bodyPr wrap="square" lIns="38100" tIns="38100" rIns="38100" bIns="38100" rtlCol="0" anchor="ctr"/>
          <a:lstStyle/>
          <a:p>
            <a:pPr marL="0" indent="0">
              <a:buNone/>
            </a:pPr>
            <a:r>
              <a:rPr lang="en-US" sz="900" dirty="0">
                <a:solidFill>
                  <a:srgbClr val="5B2D8E"/>
                </a:solidFill>
                <a:latin typeface="Calibri" pitchFamily="34" charset="0"/>
                <a:ea typeface="Calibri" pitchFamily="34" charset="-122"/>
                <a:cs typeface="Calibri" pitchFamily="34" charset="-120"/>
              </a:rPr>
              <a:t>Entry | Intermediate | Senior | Lead | Executive</a:t>
            </a:r>
            <a:endParaRPr lang="en-US" sz="900" dirty="0"/>
          </a:p>
        </p:txBody>
      </p:sp>
      <p:sp>
        <p:nvSpPr>
          <p:cNvPr id="24" name="Text 22"/>
          <p:cNvSpPr/>
          <p:nvPr/>
        </p:nvSpPr>
        <p:spPr>
          <a:xfrm>
            <a:off x="5577840" y="2455164"/>
            <a:ext cx="3246120" cy="347472"/>
          </a:xfrm>
          <a:prstGeom prst="rect">
            <a:avLst/>
          </a:prstGeom>
          <a:noFill/>
          <a:ln/>
        </p:spPr>
        <p:txBody>
          <a:bodyPr wrap="square" lIns="38100" tIns="38100" rIns="38100" bIns="38100" rtlCol="0" anchor="ctr"/>
          <a:lstStyle/>
          <a:p>
            <a:pPr marL="0" indent="0">
              <a:buNone/>
            </a:pPr>
            <a:r>
              <a:rPr lang="en-US" sz="900" dirty="0">
                <a:solidFill>
                  <a:srgbClr val="1A0A3C"/>
                </a:solidFill>
                <a:latin typeface="Calibri" pitchFamily="34" charset="0"/>
                <a:ea typeface="Calibri" pitchFamily="34" charset="-122"/>
                <a:cs typeface="Calibri" pitchFamily="34" charset="-120"/>
              </a:rPr>
              <a:t>Seniority-based performance &amp; promotion tracking</a:t>
            </a:r>
            <a:endParaRPr lang="en-US" sz="900" dirty="0"/>
          </a:p>
        </p:txBody>
      </p:sp>
      <p:sp>
        <p:nvSpPr>
          <p:cNvPr id="25" name="Shape 23"/>
          <p:cNvSpPr/>
          <p:nvPr/>
        </p:nvSpPr>
        <p:spPr>
          <a:xfrm>
            <a:off x="274320" y="2816352"/>
            <a:ext cx="8595360" cy="347472"/>
          </a:xfrm>
          <a:prstGeom prst="rect">
            <a:avLst/>
          </a:prstGeom>
          <a:solidFill>
            <a:srgbClr val="F0E8FF"/>
          </a:solidFill>
          <a:ln w="6350">
            <a:solidFill>
              <a:srgbClr val="D8C8F0"/>
            </a:solidFill>
            <a:prstDash val="solid"/>
          </a:ln>
        </p:spPr>
        <p:txBody>
          <a:bodyPr/>
          <a:lstStyle/>
          <a:p>
            <a:endParaRPr lang="en-IN"/>
          </a:p>
        </p:txBody>
      </p:sp>
      <p:sp>
        <p:nvSpPr>
          <p:cNvPr id="26" name="Text 24"/>
          <p:cNvSpPr/>
          <p:nvPr/>
        </p:nvSpPr>
        <p:spPr>
          <a:xfrm>
            <a:off x="320040" y="2816352"/>
            <a:ext cx="2240280" cy="347472"/>
          </a:xfrm>
          <a:prstGeom prst="rect">
            <a:avLst/>
          </a:prstGeom>
          <a:noFill/>
          <a:ln/>
        </p:spPr>
        <p:txBody>
          <a:bodyPr wrap="square" lIns="38100" tIns="38100" rIns="38100" bIns="38100" rtlCol="0" anchor="ctr"/>
          <a:lstStyle/>
          <a:p>
            <a:pPr marL="0" indent="0">
              <a:buNone/>
            </a:pPr>
            <a:r>
              <a:rPr lang="en-US" sz="950" b="1" dirty="0">
                <a:solidFill>
                  <a:srgbClr val="2D1B69"/>
                </a:solidFill>
                <a:latin typeface="Calibri" pitchFamily="34" charset="0"/>
                <a:ea typeface="Calibri" pitchFamily="34" charset="-122"/>
                <a:cs typeface="Calibri" pitchFamily="34" charset="-120"/>
              </a:rPr>
              <a:t>EnvironmentSatisfaction → EnvSatisfctnB</a:t>
            </a:r>
            <a:endParaRPr lang="en-US" sz="950" dirty="0"/>
          </a:p>
        </p:txBody>
      </p:sp>
      <p:sp>
        <p:nvSpPr>
          <p:cNvPr id="27" name="Text 25"/>
          <p:cNvSpPr/>
          <p:nvPr/>
        </p:nvSpPr>
        <p:spPr>
          <a:xfrm>
            <a:off x="2606040" y="2816352"/>
            <a:ext cx="2926080" cy="347472"/>
          </a:xfrm>
          <a:prstGeom prst="rect">
            <a:avLst/>
          </a:prstGeom>
          <a:noFill/>
          <a:ln/>
        </p:spPr>
        <p:txBody>
          <a:bodyPr wrap="square" lIns="38100" tIns="38100" rIns="38100" bIns="38100" rtlCol="0" anchor="ctr"/>
          <a:lstStyle/>
          <a:p>
            <a:pPr marL="0" indent="0">
              <a:buNone/>
            </a:pPr>
            <a:r>
              <a:rPr lang="en-US" sz="900" dirty="0">
                <a:solidFill>
                  <a:srgbClr val="5B2D8E"/>
                </a:solidFill>
                <a:latin typeface="Calibri" pitchFamily="34" charset="0"/>
                <a:ea typeface="Calibri" pitchFamily="34" charset="-122"/>
                <a:cs typeface="Calibri" pitchFamily="34" charset="-120"/>
              </a:rPr>
              <a:t>Highly Dissatisfied | Dissatisfied | Satisfied | Highly Satisfied</a:t>
            </a:r>
            <a:endParaRPr lang="en-US" sz="900" dirty="0"/>
          </a:p>
        </p:txBody>
      </p:sp>
      <p:sp>
        <p:nvSpPr>
          <p:cNvPr id="28" name="Text 26"/>
          <p:cNvSpPr/>
          <p:nvPr/>
        </p:nvSpPr>
        <p:spPr>
          <a:xfrm>
            <a:off x="5577840" y="2816352"/>
            <a:ext cx="3246120" cy="347472"/>
          </a:xfrm>
          <a:prstGeom prst="rect">
            <a:avLst/>
          </a:prstGeom>
          <a:noFill/>
          <a:ln/>
        </p:spPr>
        <p:txBody>
          <a:bodyPr wrap="square" lIns="38100" tIns="38100" rIns="38100" bIns="38100" rtlCol="0" anchor="ctr"/>
          <a:lstStyle/>
          <a:p>
            <a:pPr marL="0" indent="0">
              <a:buNone/>
            </a:pPr>
            <a:r>
              <a:rPr lang="en-US" sz="900" dirty="0">
                <a:solidFill>
                  <a:srgbClr val="1A0A3C"/>
                </a:solidFill>
                <a:latin typeface="Calibri" pitchFamily="34" charset="0"/>
                <a:ea typeface="Calibri" pitchFamily="34" charset="-122"/>
                <a:cs typeface="Calibri" pitchFamily="34" charset="-120"/>
              </a:rPr>
              <a:t>Workplace experience scoring</a:t>
            </a:r>
            <a:endParaRPr lang="en-US" sz="900" dirty="0"/>
          </a:p>
        </p:txBody>
      </p:sp>
      <p:sp>
        <p:nvSpPr>
          <p:cNvPr id="29" name="Shape 27"/>
          <p:cNvSpPr/>
          <p:nvPr/>
        </p:nvSpPr>
        <p:spPr>
          <a:xfrm>
            <a:off x="274320" y="3177540"/>
            <a:ext cx="8595360" cy="347472"/>
          </a:xfrm>
          <a:prstGeom prst="rect">
            <a:avLst/>
          </a:prstGeom>
          <a:solidFill>
            <a:srgbClr val="FFFFFF"/>
          </a:solidFill>
          <a:ln w="6350">
            <a:solidFill>
              <a:srgbClr val="D8C8F0"/>
            </a:solidFill>
            <a:prstDash val="solid"/>
          </a:ln>
        </p:spPr>
        <p:txBody>
          <a:bodyPr/>
          <a:lstStyle/>
          <a:p>
            <a:endParaRPr lang="en-IN"/>
          </a:p>
        </p:txBody>
      </p:sp>
      <p:sp>
        <p:nvSpPr>
          <p:cNvPr id="30" name="Text 28"/>
          <p:cNvSpPr/>
          <p:nvPr/>
        </p:nvSpPr>
        <p:spPr>
          <a:xfrm>
            <a:off x="320040" y="3177540"/>
            <a:ext cx="2240280" cy="347472"/>
          </a:xfrm>
          <a:prstGeom prst="rect">
            <a:avLst/>
          </a:prstGeom>
          <a:noFill/>
          <a:ln/>
        </p:spPr>
        <p:txBody>
          <a:bodyPr wrap="square" lIns="38100" tIns="38100" rIns="38100" bIns="38100" rtlCol="0" anchor="ctr"/>
          <a:lstStyle/>
          <a:p>
            <a:pPr marL="0" indent="0">
              <a:buNone/>
            </a:pPr>
            <a:r>
              <a:rPr lang="en-US" sz="950" b="1" dirty="0">
                <a:solidFill>
                  <a:srgbClr val="2D1B69"/>
                </a:solidFill>
                <a:latin typeface="Calibri" pitchFamily="34" charset="0"/>
                <a:ea typeface="Calibri" pitchFamily="34" charset="-122"/>
                <a:cs typeface="Calibri" pitchFamily="34" charset="-120"/>
              </a:rPr>
              <a:t>JobSatisfaction → JobSatisfctnB</a:t>
            </a:r>
            <a:endParaRPr lang="en-US" sz="950" dirty="0"/>
          </a:p>
        </p:txBody>
      </p:sp>
      <p:sp>
        <p:nvSpPr>
          <p:cNvPr id="31" name="Text 29"/>
          <p:cNvSpPr/>
          <p:nvPr/>
        </p:nvSpPr>
        <p:spPr>
          <a:xfrm>
            <a:off x="2606040" y="3177540"/>
            <a:ext cx="2926080" cy="347472"/>
          </a:xfrm>
          <a:prstGeom prst="rect">
            <a:avLst/>
          </a:prstGeom>
          <a:noFill/>
          <a:ln/>
        </p:spPr>
        <p:txBody>
          <a:bodyPr wrap="square" lIns="38100" tIns="38100" rIns="38100" bIns="38100" rtlCol="0" anchor="ctr"/>
          <a:lstStyle/>
          <a:p>
            <a:pPr marL="0" indent="0">
              <a:buNone/>
            </a:pPr>
            <a:r>
              <a:rPr lang="en-US" sz="900" dirty="0">
                <a:solidFill>
                  <a:srgbClr val="5B2D8E"/>
                </a:solidFill>
                <a:latin typeface="Calibri" pitchFamily="34" charset="0"/>
                <a:ea typeface="Calibri" pitchFamily="34" charset="-122"/>
                <a:cs typeface="Calibri" pitchFamily="34" charset="-120"/>
              </a:rPr>
              <a:t>Highly Dissatisfied | Dissatisfied | Satisfied | Highly Satisfied</a:t>
            </a:r>
            <a:endParaRPr lang="en-US" sz="900" dirty="0"/>
          </a:p>
        </p:txBody>
      </p:sp>
      <p:sp>
        <p:nvSpPr>
          <p:cNvPr id="32" name="Text 30"/>
          <p:cNvSpPr/>
          <p:nvPr/>
        </p:nvSpPr>
        <p:spPr>
          <a:xfrm>
            <a:off x="5577840" y="3177540"/>
            <a:ext cx="3246120" cy="347472"/>
          </a:xfrm>
          <a:prstGeom prst="rect">
            <a:avLst/>
          </a:prstGeom>
          <a:noFill/>
          <a:ln/>
        </p:spPr>
        <p:txBody>
          <a:bodyPr wrap="square" lIns="38100" tIns="38100" rIns="38100" bIns="38100" rtlCol="0" anchor="ctr"/>
          <a:lstStyle/>
          <a:p>
            <a:pPr marL="0" indent="0">
              <a:buNone/>
            </a:pPr>
            <a:r>
              <a:rPr lang="en-US" sz="900" dirty="0">
                <a:solidFill>
                  <a:srgbClr val="1A0A3C"/>
                </a:solidFill>
                <a:latin typeface="Calibri" pitchFamily="34" charset="0"/>
                <a:ea typeface="Calibri" pitchFamily="34" charset="-122"/>
                <a:cs typeface="Calibri" pitchFamily="34" charset="-120"/>
              </a:rPr>
              <a:t>Employee engagement measurement</a:t>
            </a:r>
            <a:endParaRPr lang="en-US" sz="900" dirty="0"/>
          </a:p>
        </p:txBody>
      </p:sp>
      <p:sp>
        <p:nvSpPr>
          <p:cNvPr id="33" name="Shape 31"/>
          <p:cNvSpPr/>
          <p:nvPr/>
        </p:nvSpPr>
        <p:spPr>
          <a:xfrm>
            <a:off x="274320" y="3538728"/>
            <a:ext cx="8595360" cy="347472"/>
          </a:xfrm>
          <a:prstGeom prst="rect">
            <a:avLst/>
          </a:prstGeom>
          <a:solidFill>
            <a:srgbClr val="F0E8FF"/>
          </a:solidFill>
          <a:ln w="6350">
            <a:solidFill>
              <a:srgbClr val="D8C8F0"/>
            </a:solidFill>
            <a:prstDash val="solid"/>
          </a:ln>
        </p:spPr>
        <p:txBody>
          <a:bodyPr/>
          <a:lstStyle/>
          <a:p>
            <a:endParaRPr lang="en-IN"/>
          </a:p>
        </p:txBody>
      </p:sp>
      <p:sp>
        <p:nvSpPr>
          <p:cNvPr id="34" name="Text 32"/>
          <p:cNvSpPr/>
          <p:nvPr/>
        </p:nvSpPr>
        <p:spPr>
          <a:xfrm>
            <a:off x="320040" y="3538728"/>
            <a:ext cx="2240280" cy="347472"/>
          </a:xfrm>
          <a:prstGeom prst="rect">
            <a:avLst/>
          </a:prstGeom>
          <a:noFill/>
          <a:ln/>
        </p:spPr>
        <p:txBody>
          <a:bodyPr wrap="square" lIns="38100" tIns="38100" rIns="38100" bIns="38100" rtlCol="0" anchor="ctr"/>
          <a:lstStyle/>
          <a:p>
            <a:pPr marL="0" indent="0">
              <a:buNone/>
            </a:pPr>
            <a:r>
              <a:rPr lang="en-US" sz="950" b="1" dirty="0">
                <a:solidFill>
                  <a:srgbClr val="2D1B69"/>
                </a:solidFill>
                <a:latin typeface="Calibri" pitchFamily="34" charset="0"/>
                <a:ea typeface="Calibri" pitchFamily="34" charset="-122"/>
                <a:cs typeface="Calibri" pitchFamily="34" charset="-120"/>
              </a:rPr>
              <a:t>WorkLifeBalance → WLBB</a:t>
            </a:r>
            <a:endParaRPr lang="en-US" sz="950" dirty="0"/>
          </a:p>
        </p:txBody>
      </p:sp>
      <p:sp>
        <p:nvSpPr>
          <p:cNvPr id="35" name="Text 33"/>
          <p:cNvSpPr/>
          <p:nvPr/>
        </p:nvSpPr>
        <p:spPr>
          <a:xfrm>
            <a:off x="2606040" y="3538728"/>
            <a:ext cx="2926080" cy="347472"/>
          </a:xfrm>
          <a:prstGeom prst="rect">
            <a:avLst/>
          </a:prstGeom>
          <a:noFill/>
          <a:ln/>
        </p:spPr>
        <p:txBody>
          <a:bodyPr wrap="square" lIns="38100" tIns="38100" rIns="38100" bIns="38100" rtlCol="0" anchor="ctr"/>
          <a:lstStyle/>
          <a:p>
            <a:pPr marL="0" indent="0">
              <a:buNone/>
            </a:pPr>
            <a:r>
              <a:rPr lang="en-US" sz="900" dirty="0">
                <a:solidFill>
                  <a:srgbClr val="5B2D8E"/>
                </a:solidFill>
                <a:latin typeface="Calibri" pitchFamily="34" charset="0"/>
                <a:ea typeface="Calibri" pitchFamily="34" charset="-122"/>
                <a:cs typeface="Calibri" pitchFamily="34" charset="-120"/>
              </a:rPr>
              <a:t>Vulnerable | Fragile | Resilient | Secure ecosys</a:t>
            </a:r>
            <a:endParaRPr lang="en-US" sz="900" dirty="0"/>
          </a:p>
        </p:txBody>
      </p:sp>
      <p:sp>
        <p:nvSpPr>
          <p:cNvPr id="36" name="Text 34"/>
          <p:cNvSpPr/>
          <p:nvPr/>
        </p:nvSpPr>
        <p:spPr>
          <a:xfrm>
            <a:off x="5577840" y="3538728"/>
            <a:ext cx="3246120" cy="347472"/>
          </a:xfrm>
          <a:prstGeom prst="rect">
            <a:avLst/>
          </a:prstGeom>
          <a:noFill/>
          <a:ln/>
        </p:spPr>
        <p:txBody>
          <a:bodyPr wrap="square" lIns="38100" tIns="38100" rIns="38100" bIns="38100" rtlCol="0" anchor="ctr"/>
          <a:lstStyle/>
          <a:p>
            <a:pPr marL="0" indent="0">
              <a:buNone/>
            </a:pPr>
            <a:r>
              <a:rPr lang="en-US" sz="900" dirty="0">
                <a:solidFill>
                  <a:srgbClr val="1A0A3C"/>
                </a:solidFill>
                <a:latin typeface="Calibri" pitchFamily="34" charset="0"/>
                <a:ea typeface="Calibri" pitchFamily="34" charset="-122"/>
                <a:cs typeface="Calibri" pitchFamily="34" charset="-120"/>
              </a:rPr>
              <a:t>Holistic wellbeing classification</a:t>
            </a:r>
            <a:endParaRPr lang="en-US" sz="900" dirty="0"/>
          </a:p>
        </p:txBody>
      </p:sp>
      <p:sp>
        <p:nvSpPr>
          <p:cNvPr id="37" name="Shape 35"/>
          <p:cNvSpPr/>
          <p:nvPr/>
        </p:nvSpPr>
        <p:spPr>
          <a:xfrm>
            <a:off x="274320" y="3899916"/>
            <a:ext cx="8595360" cy="347472"/>
          </a:xfrm>
          <a:prstGeom prst="rect">
            <a:avLst/>
          </a:prstGeom>
          <a:solidFill>
            <a:srgbClr val="FFFFFF"/>
          </a:solidFill>
          <a:ln w="6350">
            <a:solidFill>
              <a:srgbClr val="D8C8F0"/>
            </a:solidFill>
            <a:prstDash val="solid"/>
          </a:ln>
        </p:spPr>
        <p:txBody>
          <a:bodyPr/>
          <a:lstStyle/>
          <a:p>
            <a:endParaRPr lang="en-IN"/>
          </a:p>
        </p:txBody>
      </p:sp>
      <p:sp>
        <p:nvSpPr>
          <p:cNvPr id="38" name="Text 36"/>
          <p:cNvSpPr/>
          <p:nvPr/>
        </p:nvSpPr>
        <p:spPr>
          <a:xfrm>
            <a:off x="320040" y="3899916"/>
            <a:ext cx="2240280" cy="347472"/>
          </a:xfrm>
          <a:prstGeom prst="rect">
            <a:avLst/>
          </a:prstGeom>
          <a:noFill/>
          <a:ln/>
        </p:spPr>
        <p:txBody>
          <a:bodyPr wrap="square" lIns="38100" tIns="38100" rIns="38100" bIns="38100" rtlCol="0" anchor="ctr"/>
          <a:lstStyle/>
          <a:p>
            <a:pPr marL="0" indent="0">
              <a:buNone/>
            </a:pPr>
            <a:r>
              <a:rPr lang="en-US" sz="950" b="1" dirty="0">
                <a:solidFill>
                  <a:srgbClr val="2D1B69"/>
                </a:solidFill>
                <a:latin typeface="Calibri" pitchFamily="34" charset="0"/>
                <a:ea typeface="Calibri" pitchFamily="34" charset="-122"/>
                <a:cs typeface="Calibri" pitchFamily="34" charset="-120"/>
              </a:rPr>
              <a:t>JobInvolvement → JobInvolvmntB</a:t>
            </a:r>
            <a:endParaRPr lang="en-US" sz="950" dirty="0"/>
          </a:p>
        </p:txBody>
      </p:sp>
      <p:sp>
        <p:nvSpPr>
          <p:cNvPr id="39" name="Text 37"/>
          <p:cNvSpPr/>
          <p:nvPr/>
        </p:nvSpPr>
        <p:spPr>
          <a:xfrm>
            <a:off x="2606040" y="3899916"/>
            <a:ext cx="2926080" cy="347472"/>
          </a:xfrm>
          <a:prstGeom prst="rect">
            <a:avLst/>
          </a:prstGeom>
          <a:noFill/>
          <a:ln/>
        </p:spPr>
        <p:txBody>
          <a:bodyPr wrap="square" lIns="38100" tIns="38100" rIns="38100" bIns="38100" rtlCol="0" anchor="ctr"/>
          <a:lstStyle/>
          <a:p>
            <a:pPr marL="0" indent="0">
              <a:buNone/>
            </a:pPr>
            <a:r>
              <a:rPr lang="en-US" sz="900" dirty="0">
                <a:solidFill>
                  <a:srgbClr val="5B2D8E"/>
                </a:solidFill>
                <a:latin typeface="Calibri" pitchFamily="34" charset="0"/>
                <a:ea typeface="Calibri" pitchFamily="34" charset="-122"/>
                <a:cs typeface="Calibri" pitchFamily="34" charset="-120"/>
              </a:rPr>
              <a:t>Detached | Passive | Connected | Hyper Involved</a:t>
            </a:r>
            <a:endParaRPr lang="en-US" sz="900" dirty="0"/>
          </a:p>
        </p:txBody>
      </p:sp>
      <p:sp>
        <p:nvSpPr>
          <p:cNvPr id="40" name="Text 38"/>
          <p:cNvSpPr/>
          <p:nvPr/>
        </p:nvSpPr>
        <p:spPr>
          <a:xfrm>
            <a:off x="5577840" y="3899916"/>
            <a:ext cx="3246120" cy="347472"/>
          </a:xfrm>
          <a:prstGeom prst="rect">
            <a:avLst/>
          </a:prstGeom>
          <a:noFill/>
          <a:ln/>
        </p:spPr>
        <p:txBody>
          <a:bodyPr wrap="square" lIns="38100" tIns="38100" rIns="38100" bIns="38100" rtlCol="0" anchor="ctr"/>
          <a:lstStyle/>
          <a:p>
            <a:pPr marL="0" indent="0">
              <a:buNone/>
            </a:pPr>
            <a:r>
              <a:rPr lang="en-US" sz="900" dirty="0">
                <a:solidFill>
                  <a:srgbClr val="1A0A3C"/>
                </a:solidFill>
                <a:latin typeface="Calibri" pitchFamily="34" charset="0"/>
                <a:ea typeface="Calibri" pitchFamily="34" charset="-122"/>
                <a:cs typeface="Calibri" pitchFamily="34" charset="-120"/>
              </a:rPr>
              <a:t>Engagement &amp; burnout risk profiling</a:t>
            </a:r>
            <a:endParaRPr lang="en-US" sz="900" dirty="0"/>
          </a:p>
        </p:txBody>
      </p:sp>
      <p:sp>
        <p:nvSpPr>
          <p:cNvPr id="41" name="Shape 39"/>
          <p:cNvSpPr/>
          <p:nvPr/>
        </p:nvSpPr>
        <p:spPr>
          <a:xfrm>
            <a:off x="274320" y="4261104"/>
            <a:ext cx="8595360" cy="347472"/>
          </a:xfrm>
          <a:prstGeom prst="rect">
            <a:avLst/>
          </a:prstGeom>
          <a:solidFill>
            <a:srgbClr val="F0E8FF"/>
          </a:solidFill>
          <a:ln w="6350">
            <a:solidFill>
              <a:srgbClr val="D8C8F0"/>
            </a:solidFill>
            <a:prstDash val="solid"/>
          </a:ln>
        </p:spPr>
        <p:txBody>
          <a:bodyPr/>
          <a:lstStyle/>
          <a:p>
            <a:endParaRPr lang="en-IN"/>
          </a:p>
        </p:txBody>
      </p:sp>
      <p:sp>
        <p:nvSpPr>
          <p:cNvPr id="42" name="Text 40"/>
          <p:cNvSpPr/>
          <p:nvPr/>
        </p:nvSpPr>
        <p:spPr>
          <a:xfrm>
            <a:off x="320040" y="4261104"/>
            <a:ext cx="2240280" cy="347472"/>
          </a:xfrm>
          <a:prstGeom prst="rect">
            <a:avLst/>
          </a:prstGeom>
          <a:noFill/>
          <a:ln/>
        </p:spPr>
        <p:txBody>
          <a:bodyPr wrap="square" lIns="38100" tIns="38100" rIns="38100" bIns="38100" rtlCol="0" anchor="ctr"/>
          <a:lstStyle/>
          <a:p>
            <a:pPr marL="0" indent="0">
              <a:buNone/>
            </a:pPr>
            <a:r>
              <a:rPr lang="en-US" sz="950" b="1" dirty="0">
                <a:solidFill>
                  <a:srgbClr val="2D1B69"/>
                </a:solidFill>
                <a:latin typeface="Calibri" pitchFamily="34" charset="0"/>
                <a:ea typeface="Calibri" pitchFamily="34" charset="-122"/>
                <a:cs typeface="Calibri" pitchFamily="34" charset="-120"/>
              </a:rPr>
              <a:t>YearsAtCompany → Yrs@CompB</a:t>
            </a:r>
            <a:endParaRPr lang="en-US" sz="950" dirty="0"/>
          </a:p>
        </p:txBody>
      </p:sp>
      <p:sp>
        <p:nvSpPr>
          <p:cNvPr id="43" name="Text 41"/>
          <p:cNvSpPr/>
          <p:nvPr/>
        </p:nvSpPr>
        <p:spPr>
          <a:xfrm>
            <a:off x="2606040" y="4261104"/>
            <a:ext cx="2926080" cy="347472"/>
          </a:xfrm>
          <a:prstGeom prst="rect">
            <a:avLst/>
          </a:prstGeom>
          <a:noFill/>
          <a:ln/>
        </p:spPr>
        <p:txBody>
          <a:bodyPr wrap="square" lIns="38100" tIns="38100" rIns="38100" bIns="38100" rtlCol="0" anchor="ctr"/>
          <a:lstStyle/>
          <a:p>
            <a:pPr marL="0" indent="0">
              <a:buNone/>
            </a:pPr>
            <a:r>
              <a:rPr lang="en-US" sz="900" dirty="0">
                <a:solidFill>
                  <a:srgbClr val="5B2D8E"/>
                </a:solidFill>
                <a:latin typeface="Calibri" pitchFamily="34" charset="0"/>
                <a:ea typeface="Calibri" pitchFamily="34" charset="-122"/>
                <a:cs typeface="Calibri" pitchFamily="34" charset="-120"/>
              </a:rPr>
              <a:t>Onboarding | Growing | Established | Veteran | Legacy</a:t>
            </a:r>
            <a:endParaRPr lang="en-US" sz="900" dirty="0"/>
          </a:p>
        </p:txBody>
      </p:sp>
      <p:sp>
        <p:nvSpPr>
          <p:cNvPr id="44" name="Text 42"/>
          <p:cNvSpPr/>
          <p:nvPr/>
        </p:nvSpPr>
        <p:spPr>
          <a:xfrm>
            <a:off x="5577840" y="4261104"/>
            <a:ext cx="3246120" cy="347472"/>
          </a:xfrm>
          <a:prstGeom prst="rect">
            <a:avLst/>
          </a:prstGeom>
          <a:noFill/>
          <a:ln/>
        </p:spPr>
        <p:txBody>
          <a:bodyPr wrap="square" lIns="38100" tIns="38100" rIns="38100" bIns="38100" rtlCol="0" anchor="ctr"/>
          <a:lstStyle/>
          <a:p>
            <a:pPr marL="0" indent="0">
              <a:buNone/>
            </a:pPr>
            <a:r>
              <a:rPr lang="en-US" sz="900" dirty="0">
                <a:solidFill>
                  <a:srgbClr val="1A0A3C"/>
                </a:solidFill>
                <a:latin typeface="Calibri" pitchFamily="34" charset="0"/>
                <a:ea typeface="Calibri" pitchFamily="34" charset="-122"/>
                <a:cs typeface="Calibri" pitchFamily="34" charset="-120"/>
              </a:rPr>
              <a:t>Retention phase identification</a:t>
            </a:r>
            <a:endParaRPr lang="en-US" sz="900" dirty="0"/>
          </a:p>
        </p:txBody>
      </p:sp>
      <p:sp>
        <p:nvSpPr>
          <p:cNvPr id="45" name="Shape 43"/>
          <p:cNvSpPr/>
          <p:nvPr/>
        </p:nvSpPr>
        <p:spPr>
          <a:xfrm>
            <a:off x="274320" y="4622292"/>
            <a:ext cx="8595360" cy="347472"/>
          </a:xfrm>
          <a:prstGeom prst="rect">
            <a:avLst/>
          </a:prstGeom>
          <a:solidFill>
            <a:srgbClr val="FFFFFF"/>
          </a:solidFill>
          <a:ln w="6350">
            <a:solidFill>
              <a:srgbClr val="D8C8F0"/>
            </a:solidFill>
            <a:prstDash val="solid"/>
          </a:ln>
        </p:spPr>
        <p:txBody>
          <a:bodyPr/>
          <a:lstStyle/>
          <a:p>
            <a:endParaRPr lang="en-IN"/>
          </a:p>
        </p:txBody>
      </p:sp>
      <p:sp>
        <p:nvSpPr>
          <p:cNvPr id="46" name="Text 44"/>
          <p:cNvSpPr/>
          <p:nvPr/>
        </p:nvSpPr>
        <p:spPr>
          <a:xfrm>
            <a:off x="320040" y="4622292"/>
            <a:ext cx="2240280" cy="347472"/>
          </a:xfrm>
          <a:prstGeom prst="rect">
            <a:avLst/>
          </a:prstGeom>
          <a:noFill/>
          <a:ln/>
        </p:spPr>
        <p:txBody>
          <a:bodyPr wrap="square" lIns="38100" tIns="38100" rIns="38100" bIns="38100" rtlCol="0" anchor="ctr"/>
          <a:lstStyle/>
          <a:p>
            <a:pPr marL="0" indent="0">
              <a:buNone/>
            </a:pPr>
            <a:r>
              <a:rPr lang="en-US" sz="950" b="1" dirty="0">
                <a:solidFill>
                  <a:srgbClr val="2D1B69"/>
                </a:solidFill>
                <a:latin typeface="Calibri" pitchFamily="34" charset="0"/>
                <a:ea typeface="Calibri" pitchFamily="34" charset="-122"/>
                <a:cs typeface="Calibri" pitchFamily="34" charset="-120"/>
              </a:rPr>
              <a:t>YearsSinceLastPromotion → PromotionB</a:t>
            </a:r>
            <a:endParaRPr lang="en-US" sz="950" dirty="0"/>
          </a:p>
        </p:txBody>
      </p:sp>
      <p:sp>
        <p:nvSpPr>
          <p:cNvPr id="47" name="Text 45"/>
          <p:cNvSpPr/>
          <p:nvPr/>
        </p:nvSpPr>
        <p:spPr>
          <a:xfrm>
            <a:off x="2606040" y="4622292"/>
            <a:ext cx="2926080" cy="347472"/>
          </a:xfrm>
          <a:prstGeom prst="rect">
            <a:avLst/>
          </a:prstGeom>
          <a:noFill/>
          <a:ln/>
        </p:spPr>
        <p:txBody>
          <a:bodyPr wrap="square" lIns="38100" tIns="38100" rIns="38100" bIns="38100" rtlCol="0" anchor="ctr"/>
          <a:lstStyle/>
          <a:p>
            <a:pPr marL="0" indent="0">
              <a:buNone/>
            </a:pPr>
            <a:r>
              <a:rPr lang="en-US" sz="900" dirty="0">
                <a:solidFill>
                  <a:srgbClr val="5B2D8E"/>
                </a:solidFill>
                <a:latin typeface="Calibri" pitchFamily="34" charset="0"/>
                <a:ea typeface="Calibri" pitchFamily="34" charset="-122"/>
                <a:cs typeface="Calibri" pitchFamily="34" charset="-120"/>
              </a:rPr>
              <a:t>&lt;5yrs | &lt;10yrs | &lt;15yrs | &lt;20yrs | &gt;20+yrs</a:t>
            </a:r>
            <a:endParaRPr lang="en-US" sz="900" dirty="0"/>
          </a:p>
        </p:txBody>
      </p:sp>
      <p:sp>
        <p:nvSpPr>
          <p:cNvPr id="48" name="Text 46"/>
          <p:cNvSpPr/>
          <p:nvPr/>
        </p:nvSpPr>
        <p:spPr>
          <a:xfrm>
            <a:off x="5577840" y="4622292"/>
            <a:ext cx="3246120" cy="347472"/>
          </a:xfrm>
          <a:prstGeom prst="rect">
            <a:avLst/>
          </a:prstGeom>
          <a:noFill/>
          <a:ln/>
        </p:spPr>
        <p:txBody>
          <a:bodyPr wrap="square" lIns="38100" tIns="38100" rIns="38100" bIns="38100" rtlCol="0" anchor="ctr"/>
          <a:lstStyle/>
          <a:p>
            <a:pPr marL="0" indent="0">
              <a:buNone/>
            </a:pPr>
            <a:r>
              <a:rPr lang="en-US" sz="900" dirty="0">
                <a:solidFill>
                  <a:srgbClr val="1A0A3C"/>
                </a:solidFill>
                <a:latin typeface="Calibri" pitchFamily="34" charset="0"/>
                <a:ea typeface="Calibri" pitchFamily="34" charset="-122"/>
                <a:cs typeface="Calibri" pitchFamily="34" charset="-120"/>
              </a:rPr>
              <a:t>Career stagnation risk assessment</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A0A3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5B2D8E"/>
          </a:solidFill>
          <a:ln w="12700">
            <a:solidFill>
              <a:srgbClr val="5B2D8E"/>
            </a:solidFill>
            <a:prstDash val="solid"/>
          </a:ln>
        </p:spPr>
        <p:txBody>
          <a:bodyPr/>
          <a:lstStyle/>
          <a:p>
            <a:endParaRPr lang="en-IN"/>
          </a:p>
        </p:txBody>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DATA MODELLING — RELATIONAL SCHEMA</a:t>
            </a:r>
            <a:endParaRPr lang="en-US" sz="2200" dirty="0"/>
          </a:p>
        </p:txBody>
      </p:sp>
      <p:sp>
        <p:nvSpPr>
          <p:cNvPr id="4" name="Text 2"/>
          <p:cNvSpPr/>
          <p:nvPr/>
        </p:nvSpPr>
        <p:spPr>
          <a:xfrm>
            <a:off x="365760" y="713232"/>
            <a:ext cx="8412480" cy="320040"/>
          </a:xfrm>
          <a:prstGeom prst="rect">
            <a:avLst/>
          </a:prstGeom>
          <a:noFill/>
          <a:ln/>
        </p:spPr>
        <p:txBody>
          <a:bodyPr wrap="square" lIns="0" tIns="0" rIns="0" bIns="0" rtlCol="0" anchor="ctr"/>
          <a:lstStyle/>
          <a:p>
            <a:pPr marL="0" indent="0">
              <a:buNone/>
            </a:pPr>
            <a:r>
              <a:rPr lang="en-US" sz="1300" i="1" dirty="0">
                <a:solidFill>
                  <a:srgbClr val="E0AAFF"/>
                </a:solidFill>
                <a:latin typeface="Calibri" pitchFamily="34" charset="0"/>
                <a:ea typeface="Calibri" pitchFamily="34" charset="-122"/>
                <a:cs typeface="Calibri" pitchFamily="34" charset="-120"/>
              </a:rPr>
              <a:t>How HR1 and HR2 are linked via Employee ID to form a unified analytical view</a:t>
            </a:r>
            <a:endParaRPr lang="en-US" sz="1300" dirty="0"/>
          </a:p>
        </p:txBody>
      </p:sp>
      <p:sp>
        <p:nvSpPr>
          <p:cNvPr id="5" name="Shape 3"/>
          <p:cNvSpPr/>
          <p:nvPr/>
        </p:nvSpPr>
        <p:spPr>
          <a:xfrm>
            <a:off x="274320" y="1051560"/>
            <a:ext cx="3108960" cy="3474720"/>
          </a:xfrm>
          <a:prstGeom prst="rect">
            <a:avLst/>
          </a:prstGeom>
          <a:solidFill>
            <a:srgbClr val="3D1A7F"/>
          </a:solidFill>
          <a:ln w="19050">
            <a:solidFill>
              <a:srgbClr val="9D4EDD"/>
            </a:solidFill>
            <a:prstDash val="solid"/>
          </a:ln>
          <a:effectLst>
            <a:outerShdw blurRad="101600" dist="38100" dir="8100000" algn="bl" rotWithShape="0">
              <a:srgbClr val="000000">
                <a:alpha val="25000"/>
              </a:srgbClr>
            </a:outerShdw>
          </a:effectLst>
        </p:spPr>
        <p:txBody>
          <a:bodyPr/>
          <a:lstStyle/>
          <a:p>
            <a:endParaRPr lang="en-IN"/>
          </a:p>
        </p:txBody>
      </p:sp>
      <p:sp>
        <p:nvSpPr>
          <p:cNvPr id="6" name="Shape 4"/>
          <p:cNvSpPr/>
          <p:nvPr/>
        </p:nvSpPr>
        <p:spPr>
          <a:xfrm>
            <a:off x="274320" y="1051560"/>
            <a:ext cx="3108960" cy="384048"/>
          </a:xfrm>
          <a:prstGeom prst="rect">
            <a:avLst/>
          </a:prstGeom>
          <a:solidFill>
            <a:srgbClr val="7B2FBE"/>
          </a:solidFill>
          <a:ln w="12700">
            <a:solidFill>
              <a:srgbClr val="7B2FBE"/>
            </a:solidFill>
            <a:prstDash val="solid"/>
          </a:ln>
        </p:spPr>
        <p:txBody>
          <a:bodyPr/>
          <a:lstStyle/>
          <a:p>
            <a:endParaRPr lang="en-IN"/>
          </a:p>
        </p:txBody>
      </p:sp>
      <p:sp>
        <p:nvSpPr>
          <p:cNvPr id="7" name="Text 5"/>
          <p:cNvSpPr/>
          <p:nvPr/>
        </p:nvSpPr>
        <p:spPr>
          <a:xfrm>
            <a:off x="274320" y="1051560"/>
            <a:ext cx="3108960" cy="384048"/>
          </a:xfrm>
          <a:prstGeom prst="rect">
            <a:avLst/>
          </a:prstGeom>
          <a:noFill/>
          <a:ln/>
        </p:spPr>
        <p:txBody>
          <a:bodyPr wrap="square" lIns="0" tIns="0" rIns="0" bIns="0" rtlCol="0" anchor="ctr"/>
          <a:lstStyle/>
          <a:p>
            <a:pPr marL="0" indent="0" algn="ctr">
              <a:buNone/>
            </a:pPr>
            <a:r>
              <a:rPr lang="en-US" sz="1300" b="1" dirty="0">
                <a:solidFill>
                  <a:srgbClr val="FFFFFF"/>
                </a:solidFill>
              </a:rPr>
              <a:t>📋  HR1 TABLE</a:t>
            </a:r>
            <a:endParaRPr lang="en-US" sz="1300" dirty="0"/>
          </a:p>
        </p:txBody>
      </p:sp>
      <p:sp>
        <p:nvSpPr>
          <p:cNvPr id="8" name="Text 6"/>
          <p:cNvSpPr/>
          <p:nvPr/>
        </p:nvSpPr>
        <p:spPr>
          <a:xfrm>
            <a:off x="274320" y="1435608"/>
            <a:ext cx="3108960" cy="274320"/>
          </a:xfrm>
          <a:prstGeom prst="rect">
            <a:avLst/>
          </a:prstGeom>
          <a:noFill/>
          <a:ln/>
        </p:spPr>
        <p:txBody>
          <a:bodyPr wrap="square" lIns="0" tIns="0" rIns="0" bIns="0" rtlCol="0" anchor="ctr"/>
          <a:lstStyle/>
          <a:p>
            <a:pPr marL="0" indent="0" algn="ctr">
              <a:buNone/>
            </a:pPr>
            <a:r>
              <a:rPr lang="en-US" sz="1000" dirty="0">
                <a:solidFill>
                  <a:srgbClr val="FFD700"/>
                </a:solidFill>
              </a:rPr>
              <a:t>18+ Columns · 50,000 Rows</a:t>
            </a:r>
            <a:endParaRPr lang="en-US" sz="1000" dirty="0"/>
          </a:p>
        </p:txBody>
      </p:sp>
      <p:sp>
        <p:nvSpPr>
          <p:cNvPr id="9" name="Text 7"/>
          <p:cNvSpPr/>
          <p:nvPr/>
        </p:nvSpPr>
        <p:spPr>
          <a:xfrm>
            <a:off x="365760" y="1737360"/>
            <a:ext cx="2926080" cy="219456"/>
          </a:xfrm>
          <a:prstGeom prst="rect">
            <a:avLst/>
          </a:prstGeom>
          <a:noFill/>
          <a:ln/>
        </p:spPr>
        <p:txBody>
          <a:bodyPr wrap="square" lIns="0" tIns="0" rIns="0" bIns="0" rtlCol="0" anchor="ctr"/>
          <a:lstStyle/>
          <a:p>
            <a:pPr marL="0" indent="0">
              <a:buNone/>
            </a:pPr>
            <a:r>
              <a:rPr lang="en-US" sz="950" b="1" dirty="0">
                <a:solidFill>
                  <a:srgbClr val="FFD700"/>
                </a:solidFill>
                <a:latin typeface="Calibri" pitchFamily="34" charset="0"/>
                <a:ea typeface="Calibri" pitchFamily="34" charset="-122"/>
                <a:cs typeface="Calibri" pitchFamily="34" charset="-120"/>
              </a:rPr>
              <a:t>🔑 EmployeeNumber (PK)</a:t>
            </a:r>
            <a:endParaRPr lang="en-US" sz="950" dirty="0"/>
          </a:p>
        </p:txBody>
      </p:sp>
      <p:sp>
        <p:nvSpPr>
          <p:cNvPr id="10" name="Text 8"/>
          <p:cNvSpPr/>
          <p:nvPr/>
        </p:nvSpPr>
        <p:spPr>
          <a:xfrm>
            <a:off x="365760" y="19659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Age / AgeB</a:t>
            </a:r>
            <a:endParaRPr lang="en-US" sz="950" dirty="0"/>
          </a:p>
        </p:txBody>
      </p:sp>
      <p:sp>
        <p:nvSpPr>
          <p:cNvPr id="11" name="Text 9"/>
          <p:cNvSpPr/>
          <p:nvPr/>
        </p:nvSpPr>
        <p:spPr>
          <a:xfrm>
            <a:off x="365760" y="21945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Attrition</a:t>
            </a:r>
            <a:endParaRPr lang="en-US" sz="950" dirty="0"/>
          </a:p>
        </p:txBody>
      </p:sp>
      <p:sp>
        <p:nvSpPr>
          <p:cNvPr id="12" name="Text 10"/>
          <p:cNvSpPr/>
          <p:nvPr/>
        </p:nvSpPr>
        <p:spPr>
          <a:xfrm>
            <a:off x="365760" y="24231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BusinessTravel</a:t>
            </a:r>
            <a:endParaRPr lang="en-US" sz="950" dirty="0"/>
          </a:p>
        </p:txBody>
      </p:sp>
      <p:sp>
        <p:nvSpPr>
          <p:cNvPr id="13" name="Text 11"/>
          <p:cNvSpPr/>
          <p:nvPr/>
        </p:nvSpPr>
        <p:spPr>
          <a:xfrm>
            <a:off x="365760" y="26517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Department</a:t>
            </a:r>
            <a:endParaRPr lang="en-US" sz="950" dirty="0"/>
          </a:p>
        </p:txBody>
      </p:sp>
      <p:sp>
        <p:nvSpPr>
          <p:cNvPr id="14" name="Text 12"/>
          <p:cNvSpPr/>
          <p:nvPr/>
        </p:nvSpPr>
        <p:spPr>
          <a:xfrm>
            <a:off x="365760" y="28803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DistanceFromHome / DFHB</a:t>
            </a:r>
            <a:endParaRPr lang="en-US" sz="950" dirty="0"/>
          </a:p>
        </p:txBody>
      </p:sp>
      <p:sp>
        <p:nvSpPr>
          <p:cNvPr id="15" name="Text 13"/>
          <p:cNvSpPr/>
          <p:nvPr/>
        </p:nvSpPr>
        <p:spPr>
          <a:xfrm>
            <a:off x="365760" y="31089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Education / EducationField</a:t>
            </a:r>
            <a:endParaRPr lang="en-US" sz="950" dirty="0"/>
          </a:p>
        </p:txBody>
      </p:sp>
      <p:sp>
        <p:nvSpPr>
          <p:cNvPr id="16" name="Text 14"/>
          <p:cNvSpPr/>
          <p:nvPr/>
        </p:nvSpPr>
        <p:spPr>
          <a:xfrm>
            <a:off x="365760" y="33375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EnvironmentSatisfaction</a:t>
            </a:r>
            <a:endParaRPr lang="en-US" sz="950" dirty="0"/>
          </a:p>
        </p:txBody>
      </p:sp>
      <p:sp>
        <p:nvSpPr>
          <p:cNvPr id="17" name="Text 15"/>
          <p:cNvSpPr/>
          <p:nvPr/>
        </p:nvSpPr>
        <p:spPr>
          <a:xfrm>
            <a:off x="365760" y="35661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Gender / MaritalStatus</a:t>
            </a:r>
            <a:endParaRPr lang="en-US" sz="950" dirty="0"/>
          </a:p>
        </p:txBody>
      </p:sp>
      <p:sp>
        <p:nvSpPr>
          <p:cNvPr id="18" name="Text 16"/>
          <p:cNvSpPr/>
          <p:nvPr/>
        </p:nvSpPr>
        <p:spPr>
          <a:xfrm>
            <a:off x="365760" y="37947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HourlyRate</a:t>
            </a:r>
            <a:endParaRPr lang="en-US" sz="950" dirty="0"/>
          </a:p>
        </p:txBody>
      </p:sp>
      <p:sp>
        <p:nvSpPr>
          <p:cNvPr id="19" name="Text 17"/>
          <p:cNvSpPr/>
          <p:nvPr/>
        </p:nvSpPr>
        <p:spPr>
          <a:xfrm>
            <a:off x="365760" y="40233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JobInvolvement / Level / Role</a:t>
            </a:r>
            <a:endParaRPr lang="en-US" sz="950" dirty="0"/>
          </a:p>
        </p:txBody>
      </p:sp>
      <p:sp>
        <p:nvSpPr>
          <p:cNvPr id="20" name="Text 18"/>
          <p:cNvSpPr/>
          <p:nvPr/>
        </p:nvSpPr>
        <p:spPr>
          <a:xfrm>
            <a:off x="365760" y="42519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JobSatisfaction</a:t>
            </a:r>
            <a:endParaRPr lang="en-US" sz="950" dirty="0"/>
          </a:p>
        </p:txBody>
      </p:sp>
      <p:sp>
        <p:nvSpPr>
          <p:cNvPr id="21" name="Shape 19"/>
          <p:cNvSpPr/>
          <p:nvPr/>
        </p:nvSpPr>
        <p:spPr>
          <a:xfrm>
            <a:off x="5760720" y="1051560"/>
            <a:ext cx="3108960" cy="3291840"/>
          </a:xfrm>
          <a:prstGeom prst="rect">
            <a:avLst/>
          </a:prstGeom>
          <a:solidFill>
            <a:srgbClr val="3D1A7F"/>
          </a:solidFill>
          <a:ln w="19050">
            <a:solidFill>
              <a:srgbClr val="00D4AA"/>
            </a:solidFill>
            <a:prstDash val="solid"/>
          </a:ln>
          <a:effectLst>
            <a:outerShdw blurRad="101600" dist="38100" dir="8100000" algn="bl" rotWithShape="0">
              <a:srgbClr val="000000">
                <a:alpha val="25000"/>
              </a:srgbClr>
            </a:outerShdw>
          </a:effectLst>
        </p:spPr>
        <p:txBody>
          <a:bodyPr/>
          <a:lstStyle/>
          <a:p>
            <a:endParaRPr lang="en-IN"/>
          </a:p>
        </p:txBody>
      </p:sp>
      <p:sp>
        <p:nvSpPr>
          <p:cNvPr id="22" name="Shape 20"/>
          <p:cNvSpPr/>
          <p:nvPr/>
        </p:nvSpPr>
        <p:spPr>
          <a:xfrm>
            <a:off x="5760720" y="1051560"/>
            <a:ext cx="3108960" cy="384048"/>
          </a:xfrm>
          <a:prstGeom prst="rect">
            <a:avLst/>
          </a:prstGeom>
          <a:solidFill>
            <a:srgbClr val="0D6E3C"/>
          </a:solidFill>
          <a:ln w="12700">
            <a:solidFill>
              <a:srgbClr val="0D6E3C"/>
            </a:solidFill>
            <a:prstDash val="solid"/>
          </a:ln>
        </p:spPr>
        <p:txBody>
          <a:bodyPr/>
          <a:lstStyle/>
          <a:p>
            <a:endParaRPr lang="en-IN"/>
          </a:p>
        </p:txBody>
      </p:sp>
      <p:sp>
        <p:nvSpPr>
          <p:cNvPr id="23" name="Text 21"/>
          <p:cNvSpPr/>
          <p:nvPr/>
        </p:nvSpPr>
        <p:spPr>
          <a:xfrm>
            <a:off x="5760720" y="1051560"/>
            <a:ext cx="3108960" cy="384048"/>
          </a:xfrm>
          <a:prstGeom prst="rect">
            <a:avLst/>
          </a:prstGeom>
          <a:noFill/>
          <a:ln/>
        </p:spPr>
        <p:txBody>
          <a:bodyPr wrap="square" lIns="0" tIns="0" rIns="0" bIns="0" rtlCol="0" anchor="ctr"/>
          <a:lstStyle/>
          <a:p>
            <a:pPr marL="0" indent="0" algn="ctr">
              <a:buNone/>
            </a:pPr>
            <a:r>
              <a:rPr lang="en-US" sz="1300" b="1" dirty="0">
                <a:solidFill>
                  <a:srgbClr val="FFFFFF"/>
                </a:solidFill>
              </a:rPr>
              <a:t>📋  HR2 TABLE</a:t>
            </a:r>
            <a:endParaRPr lang="en-US" sz="1300" dirty="0"/>
          </a:p>
        </p:txBody>
      </p:sp>
      <p:sp>
        <p:nvSpPr>
          <p:cNvPr id="24" name="Text 22"/>
          <p:cNvSpPr/>
          <p:nvPr/>
        </p:nvSpPr>
        <p:spPr>
          <a:xfrm>
            <a:off x="5760720" y="1435608"/>
            <a:ext cx="3108960" cy="274320"/>
          </a:xfrm>
          <a:prstGeom prst="rect">
            <a:avLst/>
          </a:prstGeom>
          <a:noFill/>
          <a:ln/>
        </p:spPr>
        <p:txBody>
          <a:bodyPr wrap="square" lIns="0" tIns="0" rIns="0" bIns="0" rtlCol="0" anchor="ctr"/>
          <a:lstStyle/>
          <a:p>
            <a:pPr marL="0" indent="0" algn="ctr">
              <a:buNone/>
            </a:pPr>
            <a:r>
              <a:rPr lang="en-US" sz="1000" dirty="0">
                <a:solidFill>
                  <a:srgbClr val="FFD700"/>
                </a:solidFill>
              </a:rPr>
              <a:t>18+ Columns · 50,000 Rows</a:t>
            </a:r>
            <a:endParaRPr lang="en-US" sz="1000" dirty="0"/>
          </a:p>
        </p:txBody>
      </p:sp>
      <p:sp>
        <p:nvSpPr>
          <p:cNvPr id="25" name="Text 23"/>
          <p:cNvSpPr/>
          <p:nvPr/>
        </p:nvSpPr>
        <p:spPr>
          <a:xfrm>
            <a:off x="5852160" y="1737360"/>
            <a:ext cx="2926080" cy="219456"/>
          </a:xfrm>
          <a:prstGeom prst="rect">
            <a:avLst/>
          </a:prstGeom>
          <a:noFill/>
          <a:ln/>
        </p:spPr>
        <p:txBody>
          <a:bodyPr wrap="square" lIns="0" tIns="0" rIns="0" bIns="0" rtlCol="0" anchor="ctr"/>
          <a:lstStyle/>
          <a:p>
            <a:pPr marL="0" indent="0">
              <a:buNone/>
            </a:pPr>
            <a:r>
              <a:rPr lang="en-US" sz="950" b="1" dirty="0">
                <a:solidFill>
                  <a:srgbClr val="00D4AA"/>
                </a:solidFill>
                <a:latin typeface="Calibri" pitchFamily="34" charset="0"/>
                <a:ea typeface="Calibri" pitchFamily="34" charset="-122"/>
                <a:cs typeface="Calibri" pitchFamily="34" charset="-120"/>
              </a:rPr>
              <a:t>🔗 Employee_ID (FK)</a:t>
            </a:r>
            <a:endParaRPr lang="en-US" sz="950" dirty="0"/>
          </a:p>
        </p:txBody>
      </p:sp>
      <p:sp>
        <p:nvSpPr>
          <p:cNvPr id="26" name="Text 24"/>
          <p:cNvSpPr/>
          <p:nvPr/>
        </p:nvSpPr>
        <p:spPr>
          <a:xfrm>
            <a:off x="5852160" y="19659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MonthlyIncome / MonIncB</a:t>
            </a:r>
            <a:endParaRPr lang="en-US" sz="950" dirty="0"/>
          </a:p>
        </p:txBody>
      </p:sp>
      <p:sp>
        <p:nvSpPr>
          <p:cNvPr id="27" name="Text 25"/>
          <p:cNvSpPr/>
          <p:nvPr/>
        </p:nvSpPr>
        <p:spPr>
          <a:xfrm>
            <a:off x="5852160" y="21945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MonthlyRate</a:t>
            </a:r>
            <a:endParaRPr lang="en-US" sz="950" dirty="0"/>
          </a:p>
        </p:txBody>
      </p:sp>
      <p:sp>
        <p:nvSpPr>
          <p:cNvPr id="28" name="Text 26"/>
          <p:cNvSpPr/>
          <p:nvPr/>
        </p:nvSpPr>
        <p:spPr>
          <a:xfrm>
            <a:off x="5852160" y="24231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NumCompaniesWorked</a:t>
            </a:r>
            <a:endParaRPr lang="en-US" sz="950" dirty="0"/>
          </a:p>
        </p:txBody>
      </p:sp>
      <p:sp>
        <p:nvSpPr>
          <p:cNvPr id="29" name="Text 27"/>
          <p:cNvSpPr/>
          <p:nvPr/>
        </p:nvSpPr>
        <p:spPr>
          <a:xfrm>
            <a:off x="5852160" y="26517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OverTime</a:t>
            </a:r>
            <a:endParaRPr lang="en-US" sz="950" dirty="0"/>
          </a:p>
        </p:txBody>
      </p:sp>
      <p:sp>
        <p:nvSpPr>
          <p:cNvPr id="30" name="Text 28"/>
          <p:cNvSpPr/>
          <p:nvPr/>
        </p:nvSpPr>
        <p:spPr>
          <a:xfrm>
            <a:off x="5852160" y="28803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PercentSalaryHike</a:t>
            </a:r>
            <a:endParaRPr lang="en-US" sz="950" dirty="0"/>
          </a:p>
        </p:txBody>
      </p:sp>
      <p:sp>
        <p:nvSpPr>
          <p:cNvPr id="31" name="Text 29"/>
          <p:cNvSpPr/>
          <p:nvPr/>
        </p:nvSpPr>
        <p:spPr>
          <a:xfrm>
            <a:off x="5852160" y="31089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PerformanceRating</a:t>
            </a:r>
            <a:endParaRPr lang="en-US" sz="950" dirty="0"/>
          </a:p>
        </p:txBody>
      </p:sp>
      <p:sp>
        <p:nvSpPr>
          <p:cNvPr id="32" name="Text 30"/>
          <p:cNvSpPr/>
          <p:nvPr/>
        </p:nvSpPr>
        <p:spPr>
          <a:xfrm>
            <a:off x="5852160" y="33375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RelationshipSatisfaction</a:t>
            </a:r>
            <a:endParaRPr lang="en-US" sz="950" dirty="0"/>
          </a:p>
        </p:txBody>
      </p:sp>
      <p:sp>
        <p:nvSpPr>
          <p:cNvPr id="33" name="Text 31"/>
          <p:cNvSpPr/>
          <p:nvPr/>
        </p:nvSpPr>
        <p:spPr>
          <a:xfrm>
            <a:off x="5852160" y="35661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StockOptionLevel</a:t>
            </a:r>
            <a:endParaRPr lang="en-US" sz="950" dirty="0"/>
          </a:p>
        </p:txBody>
      </p:sp>
      <p:sp>
        <p:nvSpPr>
          <p:cNvPr id="34" name="Text 32"/>
          <p:cNvSpPr/>
          <p:nvPr/>
        </p:nvSpPr>
        <p:spPr>
          <a:xfrm>
            <a:off x="5852160" y="37947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TotalWorkingYears</a:t>
            </a:r>
            <a:endParaRPr lang="en-US" sz="950" dirty="0"/>
          </a:p>
        </p:txBody>
      </p:sp>
      <p:sp>
        <p:nvSpPr>
          <p:cNvPr id="35" name="Text 33"/>
          <p:cNvSpPr/>
          <p:nvPr/>
        </p:nvSpPr>
        <p:spPr>
          <a:xfrm>
            <a:off x="5852160" y="40233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WorkLifeBalance / WLBB</a:t>
            </a:r>
            <a:endParaRPr lang="en-US" sz="950" dirty="0"/>
          </a:p>
        </p:txBody>
      </p:sp>
      <p:sp>
        <p:nvSpPr>
          <p:cNvPr id="36" name="Text 34"/>
          <p:cNvSpPr/>
          <p:nvPr/>
        </p:nvSpPr>
        <p:spPr>
          <a:xfrm>
            <a:off x="7360920" y="1965960"/>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YearsAtCompany / Roles</a:t>
            </a:r>
            <a:endParaRPr lang="en-US" sz="950" dirty="0"/>
          </a:p>
        </p:txBody>
      </p:sp>
      <p:sp>
        <p:nvSpPr>
          <p:cNvPr id="37" name="Text 35"/>
          <p:cNvSpPr/>
          <p:nvPr/>
        </p:nvSpPr>
        <p:spPr>
          <a:xfrm>
            <a:off x="7360920" y="2203704"/>
            <a:ext cx="2926080" cy="219456"/>
          </a:xfrm>
          <a:prstGeom prst="rect">
            <a:avLst/>
          </a:prstGeom>
          <a:noFill/>
          <a:ln/>
        </p:spPr>
        <p:txBody>
          <a:bodyPr wrap="square" lIns="0" tIns="0" rIns="0" bIns="0" rtlCol="0" anchor="ctr"/>
          <a:lstStyle/>
          <a:p>
            <a:pPr marL="0" indent="0">
              <a:buNone/>
            </a:pPr>
            <a:r>
              <a:rPr lang="en-US" sz="950" dirty="0">
                <a:solidFill>
                  <a:srgbClr val="E8E0F0"/>
                </a:solidFill>
                <a:latin typeface="Calibri" pitchFamily="34" charset="0"/>
                <a:ea typeface="Calibri" pitchFamily="34" charset="-122"/>
                <a:cs typeface="Calibri" pitchFamily="34" charset="-120"/>
              </a:rPr>
              <a:t>   YearsSinceLastPromotion</a:t>
            </a:r>
            <a:endParaRPr lang="en-US" sz="950" dirty="0"/>
          </a:p>
        </p:txBody>
      </p:sp>
      <p:sp>
        <p:nvSpPr>
          <p:cNvPr id="38" name="Shape 36"/>
          <p:cNvSpPr/>
          <p:nvPr/>
        </p:nvSpPr>
        <p:spPr>
          <a:xfrm>
            <a:off x="3566160" y="2560320"/>
            <a:ext cx="2011680" cy="73152"/>
          </a:xfrm>
          <a:prstGeom prst="rect">
            <a:avLst/>
          </a:prstGeom>
          <a:solidFill>
            <a:srgbClr val="FFD700"/>
          </a:solidFill>
          <a:ln w="12700">
            <a:solidFill>
              <a:srgbClr val="FFD700"/>
            </a:solidFill>
            <a:prstDash val="solid"/>
          </a:ln>
        </p:spPr>
        <p:txBody>
          <a:bodyPr/>
          <a:lstStyle/>
          <a:p>
            <a:endParaRPr lang="en-IN"/>
          </a:p>
        </p:txBody>
      </p:sp>
      <p:sp>
        <p:nvSpPr>
          <p:cNvPr id="39" name="Shape 37"/>
          <p:cNvSpPr/>
          <p:nvPr/>
        </p:nvSpPr>
        <p:spPr>
          <a:xfrm>
            <a:off x="5509260" y="2403902"/>
            <a:ext cx="228600" cy="347472"/>
          </a:xfrm>
          <a:prstGeom prst="rect">
            <a:avLst/>
          </a:prstGeom>
          <a:solidFill>
            <a:srgbClr val="FFD700"/>
          </a:solidFill>
          <a:ln w="12700">
            <a:solidFill>
              <a:srgbClr val="FFD700"/>
            </a:solidFill>
            <a:prstDash val="solid"/>
          </a:ln>
        </p:spPr>
        <p:txBody>
          <a:bodyPr/>
          <a:lstStyle/>
          <a:p>
            <a:endParaRPr lang="en-IN"/>
          </a:p>
        </p:txBody>
      </p:sp>
      <p:sp>
        <p:nvSpPr>
          <p:cNvPr id="40" name="Shape 38"/>
          <p:cNvSpPr/>
          <p:nvPr/>
        </p:nvSpPr>
        <p:spPr>
          <a:xfrm>
            <a:off x="3383280" y="2395728"/>
            <a:ext cx="274320" cy="402336"/>
          </a:xfrm>
          <a:prstGeom prst="rect">
            <a:avLst/>
          </a:prstGeom>
          <a:solidFill>
            <a:srgbClr val="FFD700"/>
          </a:solidFill>
          <a:ln w="12700">
            <a:solidFill>
              <a:srgbClr val="FFD700"/>
            </a:solidFill>
            <a:prstDash val="solid"/>
          </a:ln>
        </p:spPr>
        <p:txBody>
          <a:bodyPr/>
          <a:lstStyle/>
          <a:p>
            <a:endParaRPr lang="en-IN"/>
          </a:p>
        </p:txBody>
      </p:sp>
      <p:sp>
        <p:nvSpPr>
          <p:cNvPr id="41" name="Shape 39"/>
          <p:cNvSpPr/>
          <p:nvPr/>
        </p:nvSpPr>
        <p:spPr>
          <a:xfrm>
            <a:off x="3520440" y="1609344"/>
            <a:ext cx="2103120" cy="548640"/>
          </a:xfrm>
          <a:prstGeom prst="rect">
            <a:avLst/>
          </a:prstGeom>
          <a:solidFill>
            <a:srgbClr val="FFD700"/>
          </a:solidFill>
          <a:ln w="12700">
            <a:solidFill>
              <a:srgbClr val="FFD700"/>
            </a:solidFill>
            <a:prstDash val="solid"/>
          </a:ln>
          <a:effectLst>
            <a:outerShdw blurRad="152400" dist="25400" dir="8100000" algn="bl" rotWithShape="0">
              <a:srgbClr val="000000">
                <a:alpha val="15000"/>
              </a:srgbClr>
            </a:outerShdw>
          </a:effectLst>
        </p:spPr>
        <p:txBody>
          <a:bodyPr/>
          <a:lstStyle/>
          <a:p>
            <a:endParaRPr lang="en-IN"/>
          </a:p>
        </p:txBody>
      </p:sp>
      <p:sp>
        <p:nvSpPr>
          <p:cNvPr id="42" name="Text 40"/>
          <p:cNvSpPr/>
          <p:nvPr/>
        </p:nvSpPr>
        <p:spPr>
          <a:xfrm>
            <a:off x="3520440" y="1600200"/>
            <a:ext cx="2103120" cy="292608"/>
          </a:xfrm>
          <a:prstGeom prst="rect">
            <a:avLst/>
          </a:prstGeom>
          <a:noFill/>
          <a:ln/>
        </p:spPr>
        <p:txBody>
          <a:bodyPr wrap="square" lIns="0" tIns="0" rIns="0" bIns="0" rtlCol="0" anchor="ctr"/>
          <a:lstStyle/>
          <a:p>
            <a:pPr marL="0" indent="0" algn="ctr">
              <a:buNone/>
            </a:pPr>
            <a:r>
              <a:rPr lang="en-US" sz="1200" b="1" dirty="0">
                <a:solidFill>
                  <a:srgbClr val="1A0A3C"/>
                </a:solidFill>
              </a:rPr>
              <a:t>INNER JOIN</a:t>
            </a:r>
            <a:endParaRPr lang="en-US" sz="1200" dirty="0"/>
          </a:p>
        </p:txBody>
      </p:sp>
      <p:sp>
        <p:nvSpPr>
          <p:cNvPr id="43" name="Text 41"/>
          <p:cNvSpPr/>
          <p:nvPr/>
        </p:nvSpPr>
        <p:spPr>
          <a:xfrm>
            <a:off x="3566160" y="1881724"/>
            <a:ext cx="2103120" cy="256032"/>
          </a:xfrm>
          <a:prstGeom prst="rect">
            <a:avLst/>
          </a:prstGeom>
          <a:noFill/>
          <a:ln/>
        </p:spPr>
        <p:txBody>
          <a:bodyPr wrap="square" lIns="0" tIns="0" rIns="0" bIns="0" rtlCol="0" anchor="ctr"/>
          <a:lstStyle/>
          <a:p>
            <a:pPr marL="0" indent="0" algn="ctr">
              <a:buNone/>
            </a:pPr>
            <a:r>
              <a:rPr lang="en-US" sz="900" dirty="0">
                <a:solidFill>
                  <a:srgbClr val="1A0A3C"/>
                </a:solidFill>
              </a:rPr>
              <a:t>EmployeeNumber = Employee_ID</a:t>
            </a:r>
            <a:endParaRPr lang="en-US" sz="900" dirty="0"/>
          </a:p>
        </p:txBody>
      </p:sp>
      <p:sp>
        <p:nvSpPr>
          <p:cNvPr id="44" name="Text 42"/>
          <p:cNvSpPr/>
          <p:nvPr/>
        </p:nvSpPr>
        <p:spPr>
          <a:xfrm>
            <a:off x="274320" y="4663440"/>
            <a:ext cx="8595360" cy="365760"/>
          </a:xfrm>
          <a:prstGeom prst="rect">
            <a:avLst/>
          </a:prstGeom>
          <a:noFill/>
          <a:ln/>
        </p:spPr>
        <p:txBody>
          <a:bodyPr wrap="square" lIns="0" tIns="0" rIns="0" bIns="0" rtlCol="0" anchor="ctr"/>
          <a:lstStyle/>
          <a:p>
            <a:pPr marL="0" indent="0" algn="ctr">
              <a:buNone/>
            </a:pPr>
            <a:r>
              <a:rPr lang="en-US" sz="1100" i="1" dirty="0">
                <a:solidFill>
                  <a:srgbClr val="FFD700"/>
                </a:solidFill>
                <a:latin typeface="Consolas" pitchFamily="34" charset="0"/>
                <a:ea typeface="Consolas" pitchFamily="34" charset="-122"/>
                <a:cs typeface="Consolas" pitchFamily="34" charset="-120"/>
              </a:rPr>
              <a:t>SELECT * FROM hr1 h1 JOIN hr2 h2 ON h1.EmployeeNumber = h2.Employee_ID;</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0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D1B69"/>
          </a:solidFill>
          <a:ln w="12700">
            <a:solidFill>
              <a:srgbClr val="2D1B69"/>
            </a:solidFill>
            <a:prstDash val="solid"/>
          </a:ln>
        </p:spPr>
        <p:txBody>
          <a:bodyPr/>
          <a:lstStyle/>
          <a:p>
            <a:endParaRPr lang="en-IN"/>
          </a:p>
        </p:txBody>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SQL QUERIES </a:t>
            </a:r>
            <a:endParaRPr lang="en-US" sz="2000" dirty="0"/>
          </a:p>
        </p:txBody>
      </p:sp>
      <p:pic>
        <p:nvPicPr>
          <p:cNvPr id="49" name="Picture 48">
            <a:extLst>
              <a:ext uri="{FF2B5EF4-FFF2-40B4-BE49-F238E27FC236}">
                <a16:creationId xmlns:a16="http://schemas.microsoft.com/office/drawing/2014/main" id="{E326E09E-E06D-6C90-908D-3D7CB822B176}"/>
              </a:ext>
            </a:extLst>
          </p:cNvPr>
          <p:cNvPicPr>
            <a:picLocks noChangeAspect="1"/>
          </p:cNvPicPr>
          <p:nvPr/>
        </p:nvPicPr>
        <p:blipFill>
          <a:blip r:embed="rId3"/>
          <a:stretch>
            <a:fillRect/>
          </a:stretch>
        </p:blipFill>
        <p:spPr>
          <a:xfrm>
            <a:off x="365760" y="922219"/>
            <a:ext cx="8512771" cy="381340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0FF"/>
        </a:solidFill>
        <a:effectLst/>
      </p:bgPr>
    </p:bg>
    <p:spTree>
      <p:nvGrpSpPr>
        <p:cNvPr id="1" name="">
          <a:extLst>
            <a:ext uri="{FF2B5EF4-FFF2-40B4-BE49-F238E27FC236}">
              <a16:creationId xmlns:a16="http://schemas.microsoft.com/office/drawing/2014/main" id="{DD8187B9-FEFB-5072-EB2C-C902FF00140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C9E2F55-765F-FE94-54C6-485C091F305E}"/>
              </a:ext>
            </a:extLst>
          </p:cNvPr>
          <p:cNvSpPr/>
          <p:nvPr/>
        </p:nvSpPr>
        <p:spPr>
          <a:xfrm>
            <a:off x="0" y="0"/>
            <a:ext cx="9144000" cy="640080"/>
          </a:xfrm>
          <a:prstGeom prst="rect">
            <a:avLst/>
          </a:prstGeom>
          <a:solidFill>
            <a:srgbClr val="2D1B69"/>
          </a:solidFill>
          <a:ln w="12700">
            <a:solidFill>
              <a:srgbClr val="2D1B69"/>
            </a:solidFill>
            <a:prstDash val="solid"/>
          </a:ln>
        </p:spPr>
        <p:txBody>
          <a:bodyPr/>
          <a:lstStyle/>
          <a:p>
            <a:endParaRPr lang="en-IN"/>
          </a:p>
        </p:txBody>
      </p:sp>
      <p:sp>
        <p:nvSpPr>
          <p:cNvPr id="3" name="Text 1">
            <a:extLst>
              <a:ext uri="{FF2B5EF4-FFF2-40B4-BE49-F238E27FC236}">
                <a16:creationId xmlns:a16="http://schemas.microsoft.com/office/drawing/2014/main" id="{EAC65586-3C34-FAD3-F408-0555C9BE61D5}"/>
              </a:ext>
            </a:extLst>
          </p:cNvPr>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SQL QUERIES</a:t>
            </a:r>
            <a:endParaRPr lang="en-US" sz="2000" dirty="0"/>
          </a:p>
        </p:txBody>
      </p:sp>
      <p:pic>
        <p:nvPicPr>
          <p:cNvPr id="51" name="Picture 50">
            <a:extLst>
              <a:ext uri="{FF2B5EF4-FFF2-40B4-BE49-F238E27FC236}">
                <a16:creationId xmlns:a16="http://schemas.microsoft.com/office/drawing/2014/main" id="{6CCD9E41-7D3A-91CB-EE14-B18476294D74}"/>
              </a:ext>
            </a:extLst>
          </p:cNvPr>
          <p:cNvPicPr>
            <a:picLocks noChangeAspect="1"/>
          </p:cNvPicPr>
          <p:nvPr/>
        </p:nvPicPr>
        <p:blipFill>
          <a:blip r:embed="rId3"/>
          <a:stretch>
            <a:fillRect/>
          </a:stretch>
        </p:blipFill>
        <p:spPr>
          <a:xfrm>
            <a:off x="0" y="1324213"/>
            <a:ext cx="4572000" cy="2776150"/>
          </a:xfrm>
          <a:prstGeom prst="rect">
            <a:avLst/>
          </a:prstGeom>
        </p:spPr>
      </p:pic>
      <p:pic>
        <p:nvPicPr>
          <p:cNvPr id="53" name="Picture 52">
            <a:extLst>
              <a:ext uri="{FF2B5EF4-FFF2-40B4-BE49-F238E27FC236}">
                <a16:creationId xmlns:a16="http://schemas.microsoft.com/office/drawing/2014/main" id="{6E5C833E-6D41-3D45-D618-939442EA09F3}"/>
              </a:ext>
            </a:extLst>
          </p:cNvPr>
          <p:cNvPicPr>
            <a:picLocks noChangeAspect="1"/>
          </p:cNvPicPr>
          <p:nvPr/>
        </p:nvPicPr>
        <p:blipFill>
          <a:blip r:embed="rId4"/>
          <a:stretch>
            <a:fillRect/>
          </a:stretch>
        </p:blipFill>
        <p:spPr>
          <a:xfrm>
            <a:off x="4572000" y="1324212"/>
            <a:ext cx="4572000" cy="2694088"/>
          </a:xfrm>
          <a:prstGeom prst="rect">
            <a:avLst/>
          </a:prstGeom>
        </p:spPr>
      </p:pic>
    </p:spTree>
    <p:extLst>
      <p:ext uri="{BB962C8B-B14F-4D97-AF65-F5344CB8AC3E}">
        <p14:creationId xmlns:p14="http://schemas.microsoft.com/office/powerpoint/2010/main" val="1117603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0FF"/>
        </a:solidFill>
        <a:effectLst/>
      </p:bgPr>
    </p:bg>
    <p:spTree>
      <p:nvGrpSpPr>
        <p:cNvPr id="1" name="">
          <a:extLst>
            <a:ext uri="{FF2B5EF4-FFF2-40B4-BE49-F238E27FC236}">
              <a16:creationId xmlns:a16="http://schemas.microsoft.com/office/drawing/2014/main" id="{B0D07D3C-E6E7-B969-3144-773054E81D2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D52369C-768D-6D21-3058-C0FC8525B2D4}"/>
              </a:ext>
            </a:extLst>
          </p:cNvPr>
          <p:cNvSpPr/>
          <p:nvPr/>
        </p:nvSpPr>
        <p:spPr>
          <a:xfrm>
            <a:off x="0" y="0"/>
            <a:ext cx="9144000" cy="640080"/>
          </a:xfrm>
          <a:prstGeom prst="rect">
            <a:avLst/>
          </a:prstGeom>
          <a:solidFill>
            <a:srgbClr val="2D1B69"/>
          </a:solidFill>
          <a:ln w="12700">
            <a:solidFill>
              <a:srgbClr val="2D1B69"/>
            </a:solidFill>
            <a:prstDash val="solid"/>
          </a:ln>
        </p:spPr>
        <p:txBody>
          <a:bodyPr/>
          <a:lstStyle/>
          <a:p>
            <a:endParaRPr lang="en-IN"/>
          </a:p>
        </p:txBody>
      </p:sp>
      <p:sp>
        <p:nvSpPr>
          <p:cNvPr id="3" name="Text 1">
            <a:extLst>
              <a:ext uri="{FF2B5EF4-FFF2-40B4-BE49-F238E27FC236}">
                <a16:creationId xmlns:a16="http://schemas.microsoft.com/office/drawing/2014/main" id="{BF58C0B3-0768-CE59-88B4-0C5075BBCB7D}"/>
              </a:ext>
            </a:extLst>
          </p:cNvPr>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SQL QUERIES</a:t>
            </a:r>
            <a:endParaRPr lang="en-US" sz="2000" dirty="0"/>
          </a:p>
        </p:txBody>
      </p:sp>
      <p:pic>
        <p:nvPicPr>
          <p:cNvPr id="55" name="Picture 54">
            <a:extLst>
              <a:ext uri="{FF2B5EF4-FFF2-40B4-BE49-F238E27FC236}">
                <a16:creationId xmlns:a16="http://schemas.microsoft.com/office/drawing/2014/main" id="{4245FCD6-3C5A-3665-9547-295C92159B09}"/>
              </a:ext>
            </a:extLst>
          </p:cNvPr>
          <p:cNvPicPr>
            <a:picLocks noChangeAspect="1"/>
          </p:cNvPicPr>
          <p:nvPr/>
        </p:nvPicPr>
        <p:blipFill>
          <a:blip r:embed="rId3"/>
          <a:stretch>
            <a:fillRect/>
          </a:stretch>
        </p:blipFill>
        <p:spPr>
          <a:xfrm>
            <a:off x="0" y="825395"/>
            <a:ext cx="4504623" cy="4007056"/>
          </a:xfrm>
          <a:prstGeom prst="rect">
            <a:avLst/>
          </a:prstGeom>
        </p:spPr>
      </p:pic>
      <p:pic>
        <p:nvPicPr>
          <p:cNvPr id="57" name="Picture 56">
            <a:extLst>
              <a:ext uri="{FF2B5EF4-FFF2-40B4-BE49-F238E27FC236}">
                <a16:creationId xmlns:a16="http://schemas.microsoft.com/office/drawing/2014/main" id="{5C83A801-2D97-1AA0-D07C-6856CDE6A160}"/>
              </a:ext>
            </a:extLst>
          </p:cNvPr>
          <p:cNvPicPr>
            <a:picLocks noChangeAspect="1"/>
          </p:cNvPicPr>
          <p:nvPr/>
        </p:nvPicPr>
        <p:blipFill>
          <a:blip r:embed="rId4"/>
          <a:stretch>
            <a:fillRect/>
          </a:stretch>
        </p:blipFill>
        <p:spPr>
          <a:xfrm>
            <a:off x="4572000" y="1135781"/>
            <a:ext cx="4572000" cy="3311091"/>
          </a:xfrm>
          <a:prstGeom prst="rect">
            <a:avLst/>
          </a:prstGeom>
        </p:spPr>
      </p:pic>
    </p:spTree>
    <p:extLst>
      <p:ext uri="{BB962C8B-B14F-4D97-AF65-F5344CB8AC3E}">
        <p14:creationId xmlns:p14="http://schemas.microsoft.com/office/powerpoint/2010/main" val="3380566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5F0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D1B69"/>
          </a:solidFill>
          <a:ln w="12700">
            <a:solidFill>
              <a:srgbClr val="2D1B69"/>
            </a:solidFill>
            <a:prstDash val="solid"/>
          </a:ln>
        </p:spPr>
        <p:txBody>
          <a:bodyPr/>
          <a:lstStyle/>
          <a:p>
            <a:endParaRPr lang="en-IN"/>
          </a:p>
        </p:txBody>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EXCEL DASHBOARD</a:t>
            </a:r>
            <a:endParaRPr lang="en-US" sz="2000" dirty="0"/>
          </a:p>
        </p:txBody>
      </p:sp>
      <p:pic>
        <p:nvPicPr>
          <p:cNvPr id="31" name="Picture 30">
            <a:extLst>
              <a:ext uri="{FF2B5EF4-FFF2-40B4-BE49-F238E27FC236}">
                <a16:creationId xmlns:a16="http://schemas.microsoft.com/office/drawing/2014/main" id="{49F0CF22-9CD6-9B2C-B94E-56D458D24B09}"/>
              </a:ext>
            </a:extLst>
          </p:cNvPr>
          <p:cNvPicPr>
            <a:picLocks noChangeAspect="1"/>
          </p:cNvPicPr>
          <p:nvPr/>
        </p:nvPicPr>
        <p:blipFill>
          <a:blip r:embed="rId3"/>
          <a:stretch>
            <a:fillRect/>
          </a:stretch>
        </p:blipFill>
        <p:spPr>
          <a:xfrm>
            <a:off x="161223" y="806787"/>
            <a:ext cx="8821554" cy="41647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A0A3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F2C811"/>
          </a:solidFill>
          <a:ln w="12700">
            <a:solidFill>
              <a:srgbClr val="F2C811"/>
            </a:solidFill>
            <a:prstDash val="solid"/>
          </a:ln>
        </p:spPr>
        <p:txBody>
          <a:bodyPr/>
          <a:lstStyle/>
          <a:p>
            <a:endParaRPr lang="en-IN"/>
          </a:p>
        </p:txBody>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a:solidFill>
                  <a:srgbClr val="1A0A3C"/>
                </a:solidFill>
                <a:latin typeface="Trebuchet MS" pitchFamily="34" charset="0"/>
                <a:ea typeface="Trebuchet MS" pitchFamily="34" charset="-122"/>
                <a:cs typeface="Trebuchet MS" pitchFamily="34" charset="-120"/>
              </a:rPr>
              <a:t>POWER BI DASHBOARD</a:t>
            </a:r>
            <a:endParaRPr lang="en-US" sz="2000" dirty="0"/>
          </a:p>
        </p:txBody>
      </p:sp>
      <p:pic>
        <p:nvPicPr>
          <p:cNvPr id="44" name="Picture 43">
            <a:extLst>
              <a:ext uri="{FF2B5EF4-FFF2-40B4-BE49-F238E27FC236}">
                <a16:creationId xmlns:a16="http://schemas.microsoft.com/office/drawing/2014/main" id="{A78248F9-0D91-FE0D-3BD7-58FE0197448F}"/>
              </a:ext>
            </a:extLst>
          </p:cNvPr>
          <p:cNvPicPr>
            <a:picLocks noChangeAspect="1"/>
          </p:cNvPicPr>
          <p:nvPr/>
        </p:nvPicPr>
        <p:blipFill>
          <a:blip r:embed="rId3"/>
          <a:stretch>
            <a:fillRect/>
          </a:stretch>
        </p:blipFill>
        <p:spPr>
          <a:xfrm>
            <a:off x="529389" y="913851"/>
            <a:ext cx="8085221" cy="39661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0A3C"/>
        </a:solidFill>
        <a:effectLst/>
      </p:bgPr>
    </p:bg>
    <p:spTree>
      <p:nvGrpSpPr>
        <p:cNvPr id="1" name="">
          <a:extLst>
            <a:ext uri="{FF2B5EF4-FFF2-40B4-BE49-F238E27FC236}">
              <a16:creationId xmlns:a16="http://schemas.microsoft.com/office/drawing/2014/main" id="{AADAC8B1-C600-26C0-0623-AF5D73A1E1F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6ED19EF-B88C-4BA8-8240-C0EDD7C3F02F}"/>
              </a:ext>
            </a:extLst>
          </p:cNvPr>
          <p:cNvSpPr/>
          <p:nvPr/>
        </p:nvSpPr>
        <p:spPr>
          <a:xfrm>
            <a:off x="0" y="0"/>
            <a:ext cx="9144000" cy="640080"/>
          </a:xfrm>
          <a:prstGeom prst="rect">
            <a:avLst/>
          </a:prstGeom>
          <a:solidFill>
            <a:srgbClr val="F2C811"/>
          </a:solidFill>
          <a:ln w="12700">
            <a:solidFill>
              <a:srgbClr val="F2C811"/>
            </a:solidFill>
            <a:prstDash val="solid"/>
          </a:ln>
        </p:spPr>
        <p:txBody>
          <a:bodyPr/>
          <a:lstStyle/>
          <a:p>
            <a:endParaRPr lang="en-IN"/>
          </a:p>
        </p:txBody>
      </p:sp>
      <p:sp>
        <p:nvSpPr>
          <p:cNvPr id="3" name="Text 1">
            <a:extLst>
              <a:ext uri="{FF2B5EF4-FFF2-40B4-BE49-F238E27FC236}">
                <a16:creationId xmlns:a16="http://schemas.microsoft.com/office/drawing/2014/main" id="{2B950E4A-6BBA-AB71-B9EA-B14D7487B894}"/>
              </a:ext>
            </a:extLst>
          </p:cNvPr>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a:solidFill>
                  <a:srgbClr val="1A0A3C"/>
                </a:solidFill>
                <a:latin typeface="Trebuchet MS" pitchFamily="34" charset="0"/>
                <a:ea typeface="Trebuchet MS" pitchFamily="34" charset="-122"/>
                <a:cs typeface="Trebuchet MS" pitchFamily="34" charset="-120"/>
              </a:rPr>
              <a:t>POWER BI DASHBOARD</a:t>
            </a:r>
            <a:endParaRPr lang="en-US" sz="2000" dirty="0"/>
          </a:p>
        </p:txBody>
      </p:sp>
      <p:pic>
        <p:nvPicPr>
          <p:cNvPr id="5" name="Picture 4">
            <a:extLst>
              <a:ext uri="{FF2B5EF4-FFF2-40B4-BE49-F238E27FC236}">
                <a16:creationId xmlns:a16="http://schemas.microsoft.com/office/drawing/2014/main" id="{897A9FFD-0E65-996E-9B1A-2A870DCDC516}"/>
              </a:ext>
            </a:extLst>
          </p:cNvPr>
          <p:cNvPicPr>
            <a:picLocks noChangeAspect="1"/>
          </p:cNvPicPr>
          <p:nvPr/>
        </p:nvPicPr>
        <p:blipFill>
          <a:blip r:embed="rId3"/>
          <a:stretch>
            <a:fillRect/>
          </a:stretch>
        </p:blipFill>
        <p:spPr>
          <a:xfrm>
            <a:off x="365760" y="818148"/>
            <a:ext cx="8412480" cy="4109988"/>
          </a:xfrm>
          <a:prstGeom prst="rect">
            <a:avLst/>
          </a:prstGeom>
        </p:spPr>
      </p:pic>
    </p:spTree>
    <p:extLst>
      <p:ext uri="{BB962C8B-B14F-4D97-AF65-F5344CB8AC3E}">
        <p14:creationId xmlns:p14="http://schemas.microsoft.com/office/powerpoint/2010/main" val="2339872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0A3C"/>
        </a:solidFill>
        <a:effectLst/>
      </p:bgPr>
    </p:bg>
    <p:spTree>
      <p:nvGrpSpPr>
        <p:cNvPr id="1" name="">
          <a:extLst>
            <a:ext uri="{FF2B5EF4-FFF2-40B4-BE49-F238E27FC236}">
              <a16:creationId xmlns:a16="http://schemas.microsoft.com/office/drawing/2014/main" id="{BB851677-7BC0-0881-5AC0-2F2841B0C31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D95FF03-D7F3-02E3-FDAF-EE641C59F91B}"/>
              </a:ext>
            </a:extLst>
          </p:cNvPr>
          <p:cNvSpPr/>
          <p:nvPr/>
        </p:nvSpPr>
        <p:spPr>
          <a:xfrm>
            <a:off x="0" y="0"/>
            <a:ext cx="9144000" cy="640080"/>
          </a:xfrm>
          <a:prstGeom prst="rect">
            <a:avLst/>
          </a:prstGeom>
          <a:solidFill>
            <a:srgbClr val="F2C811"/>
          </a:solidFill>
          <a:ln w="12700">
            <a:solidFill>
              <a:srgbClr val="F2C811"/>
            </a:solidFill>
            <a:prstDash val="solid"/>
          </a:ln>
        </p:spPr>
        <p:txBody>
          <a:bodyPr/>
          <a:lstStyle/>
          <a:p>
            <a:endParaRPr lang="en-IN"/>
          </a:p>
        </p:txBody>
      </p:sp>
      <p:sp>
        <p:nvSpPr>
          <p:cNvPr id="3" name="Text 1">
            <a:extLst>
              <a:ext uri="{FF2B5EF4-FFF2-40B4-BE49-F238E27FC236}">
                <a16:creationId xmlns:a16="http://schemas.microsoft.com/office/drawing/2014/main" id="{ECAF8EC4-2AB7-8E7C-9ED5-3BE16311DF81}"/>
              </a:ext>
            </a:extLst>
          </p:cNvPr>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a:solidFill>
                  <a:srgbClr val="1A0A3C"/>
                </a:solidFill>
                <a:latin typeface="Trebuchet MS" pitchFamily="34" charset="0"/>
                <a:ea typeface="Trebuchet MS" pitchFamily="34" charset="-122"/>
                <a:cs typeface="Trebuchet MS" pitchFamily="34" charset="-120"/>
              </a:rPr>
              <a:t>POWER BI DASHBOARD</a:t>
            </a:r>
            <a:endParaRPr lang="en-US" sz="2000" dirty="0"/>
          </a:p>
        </p:txBody>
      </p:sp>
      <p:pic>
        <p:nvPicPr>
          <p:cNvPr id="6" name="Picture 5">
            <a:extLst>
              <a:ext uri="{FF2B5EF4-FFF2-40B4-BE49-F238E27FC236}">
                <a16:creationId xmlns:a16="http://schemas.microsoft.com/office/drawing/2014/main" id="{B2017B2E-50D3-F94A-D99B-A28865978937}"/>
              </a:ext>
            </a:extLst>
          </p:cNvPr>
          <p:cNvPicPr>
            <a:picLocks noChangeAspect="1"/>
          </p:cNvPicPr>
          <p:nvPr/>
        </p:nvPicPr>
        <p:blipFill>
          <a:blip r:embed="rId3"/>
          <a:stretch>
            <a:fillRect/>
          </a:stretch>
        </p:blipFill>
        <p:spPr>
          <a:xfrm>
            <a:off x="731520" y="852394"/>
            <a:ext cx="7921592" cy="4101918"/>
          </a:xfrm>
          <a:prstGeom prst="rect">
            <a:avLst/>
          </a:prstGeom>
        </p:spPr>
      </p:pic>
    </p:spTree>
    <p:extLst>
      <p:ext uri="{BB962C8B-B14F-4D97-AF65-F5344CB8AC3E}">
        <p14:creationId xmlns:p14="http://schemas.microsoft.com/office/powerpoint/2010/main" val="2637751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5F0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97627"/>
          </a:solidFill>
          <a:ln w="12700">
            <a:solidFill>
              <a:srgbClr val="E97627"/>
            </a:solidFill>
            <a:prstDash val="solid"/>
          </a:ln>
        </p:spPr>
        <p:txBody>
          <a:bodyPr/>
          <a:lstStyle/>
          <a:p>
            <a:endParaRPr lang="en-IN"/>
          </a:p>
        </p:txBody>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TABLEAU DASHBOARD</a:t>
            </a:r>
            <a:endParaRPr lang="en-US" sz="2200" dirty="0"/>
          </a:p>
        </p:txBody>
      </p:sp>
      <p:pic>
        <p:nvPicPr>
          <p:cNvPr id="51" name="Picture 50">
            <a:extLst>
              <a:ext uri="{FF2B5EF4-FFF2-40B4-BE49-F238E27FC236}">
                <a16:creationId xmlns:a16="http://schemas.microsoft.com/office/drawing/2014/main" id="{62582912-FD05-7FC5-DA17-79D462079AED}"/>
              </a:ext>
            </a:extLst>
          </p:cNvPr>
          <p:cNvPicPr>
            <a:picLocks noChangeAspect="1"/>
          </p:cNvPicPr>
          <p:nvPr/>
        </p:nvPicPr>
        <p:blipFill>
          <a:blip r:embed="rId3"/>
          <a:stretch>
            <a:fillRect/>
          </a:stretch>
        </p:blipFill>
        <p:spPr>
          <a:xfrm>
            <a:off x="539015" y="779027"/>
            <a:ext cx="8306602" cy="42443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0FF"/>
        </a:solidFill>
        <a:effectLst/>
      </p:bgPr>
    </p:bg>
    <p:spTree>
      <p:nvGrpSpPr>
        <p:cNvPr id="1" name="">
          <a:extLst>
            <a:ext uri="{FF2B5EF4-FFF2-40B4-BE49-F238E27FC236}">
              <a16:creationId xmlns:a16="http://schemas.microsoft.com/office/drawing/2014/main" id="{F03B4159-F432-76FB-4B06-1D1584BBF7F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FECA011-1663-D555-D684-66E510028F3E}"/>
              </a:ext>
            </a:extLst>
          </p:cNvPr>
          <p:cNvSpPr/>
          <p:nvPr/>
        </p:nvSpPr>
        <p:spPr>
          <a:xfrm>
            <a:off x="0" y="0"/>
            <a:ext cx="9144000" cy="640080"/>
          </a:xfrm>
          <a:prstGeom prst="rect">
            <a:avLst/>
          </a:prstGeom>
          <a:solidFill>
            <a:srgbClr val="E97627"/>
          </a:solidFill>
          <a:ln w="12700">
            <a:solidFill>
              <a:srgbClr val="E97627"/>
            </a:solidFill>
            <a:prstDash val="solid"/>
          </a:ln>
        </p:spPr>
        <p:txBody>
          <a:bodyPr/>
          <a:lstStyle/>
          <a:p>
            <a:endParaRPr lang="en-IN"/>
          </a:p>
        </p:txBody>
      </p:sp>
      <p:sp>
        <p:nvSpPr>
          <p:cNvPr id="3" name="Text 1">
            <a:extLst>
              <a:ext uri="{FF2B5EF4-FFF2-40B4-BE49-F238E27FC236}">
                <a16:creationId xmlns:a16="http://schemas.microsoft.com/office/drawing/2014/main" id="{18CED6D5-C6C0-AF1E-D0B4-4AC9B018926B}"/>
              </a:ext>
            </a:extLst>
          </p:cNvPr>
          <p:cNvSpPr/>
          <p:nvPr/>
        </p:nvSpPr>
        <p:spPr>
          <a:xfrm>
            <a:off x="365760" y="0"/>
            <a:ext cx="841248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TABLEAU DASHBOARD</a:t>
            </a:r>
            <a:endParaRPr lang="en-US" sz="2200" dirty="0"/>
          </a:p>
        </p:txBody>
      </p:sp>
      <p:pic>
        <p:nvPicPr>
          <p:cNvPr id="5" name="Picture 4">
            <a:extLst>
              <a:ext uri="{FF2B5EF4-FFF2-40B4-BE49-F238E27FC236}">
                <a16:creationId xmlns:a16="http://schemas.microsoft.com/office/drawing/2014/main" id="{CB8245B7-6FD6-3C87-2FB7-0E851CBEA44C}"/>
              </a:ext>
            </a:extLst>
          </p:cNvPr>
          <p:cNvPicPr>
            <a:picLocks noChangeAspect="1"/>
          </p:cNvPicPr>
          <p:nvPr/>
        </p:nvPicPr>
        <p:blipFill>
          <a:blip r:embed="rId3"/>
          <a:stretch>
            <a:fillRect/>
          </a:stretch>
        </p:blipFill>
        <p:spPr>
          <a:xfrm>
            <a:off x="365760" y="816150"/>
            <a:ext cx="8219975" cy="4151087"/>
          </a:xfrm>
          <a:prstGeom prst="rect">
            <a:avLst/>
          </a:prstGeom>
        </p:spPr>
      </p:pic>
    </p:spTree>
    <p:extLst>
      <p:ext uri="{BB962C8B-B14F-4D97-AF65-F5344CB8AC3E}">
        <p14:creationId xmlns:p14="http://schemas.microsoft.com/office/powerpoint/2010/main" val="4232484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0A3C"/>
        </a:solidFill>
        <a:effectLst/>
      </p:bgPr>
    </p:bg>
    <p:spTree>
      <p:nvGrpSpPr>
        <p:cNvPr id="1" name="">
          <a:extLst>
            <a:ext uri="{FF2B5EF4-FFF2-40B4-BE49-F238E27FC236}">
              <a16:creationId xmlns:a16="http://schemas.microsoft.com/office/drawing/2014/main" id="{19916D5E-88ED-DD1F-9379-98AF3F42AC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DD5765-823D-F726-291C-CA6F43D4A6FF}"/>
              </a:ext>
            </a:extLst>
          </p:cNvPr>
          <p:cNvSpPr/>
          <p:nvPr/>
        </p:nvSpPr>
        <p:spPr>
          <a:xfrm>
            <a:off x="0" y="0"/>
            <a:ext cx="9144000" cy="640080"/>
          </a:xfrm>
          <a:prstGeom prst="rect">
            <a:avLst/>
          </a:prstGeom>
          <a:solidFill>
            <a:srgbClr val="5B2D8E"/>
          </a:solidFill>
          <a:ln w="12700">
            <a:solidFill>
              <a:srgbClr val="5B2D8E"/>
            </a:solidFill>
            <a:prstDash val="solid"/>
          </a:ln>
        </p:spPr>
        <p:txBody>
          <a:bodyPr/>
          <a:lstStyle/>
          <a:p>
            <a:endParaRPr lang="en-IN"/>
          </a:p>
        </p:txBody>
      </p:sp>
      <p:sp>
        <p:nvSpPr>
          <p:cNvPr id="3" name="Text 1">
            <a:extLst>
              <a:ext uri="{FF2B5EF4-FFF2-40B4-BE49-F238E27FC236}">
                <a16:creationId xmlns:a16="http://schemas.microsoft.com/office/drawing/2014/main" id="{F4D4716F-AB0D-6CF1-229C-1EC7D0D26778}"/>
              </a:ext>
            </a:extLst>
          </p:cNvPr>
          <p:cNvSpPr/>
          <p:nvPr/>
        </p:nvSpPr>
        <p:spPr>
          <a:xfrm>
            <a:off x="365760" y="0"/>
            <a:ext cx="841248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rPr>
              <a:t>Key Focus Area 1</a:t>
            </a:r>
            <a:endParaRPr lang="en-US" sz="2200" dirty="0"/>
          </a:p>
        </p:txBody>
      </p:sp>
      <p:sp>
        <p:nvSpPr>
          <p:cNvPr id="36" name="TextBox 35">
            <a:extLst>
              <a:ext uri="{FF2B5EF4-FFF2-40B4-BE49-F238E27FC236}">
                <a16:creationId xmlns:a16="http://schemas.microsoft.com/office/drawing/2014/main" id="{A25FC3C1-B374-E1FA-FEA2-CB4FF06CC030}"/>
              </a:ext>
            </a:extLst>
          </p:cNvPr>
          <p:cNvSpPr txBox="1"/>
          <p:nvPr/>
        </p:nvSpPr>
        <p:spPr>
          <a:xfrm>
            <a:off x="290945" y="775855"/>
            <a:ext cx="8541328" cy="3970318"/>
          </a:xfrm>
          <a:prstGeom prst="rect">
            <a:avLst/>
          </a:prstGeom>
          <a:noFill/>
        </p:spPr>
        <p:txBody>
          <a:bodyPr wrap="square">
            <a:spAutoFit/>
          </a:bodyPr>
          <a:lstStyle/>
          <a:p>
            <a:pPr algn="ctr">
              <a:buNone/>
            </a:pPr>
            <a:r>
              <a:rPr lang="en-IN" b="1" dirty="0">
                <a:solidFill>
                  <a:srgbClr val="CC66FF"/>
                </a:solidFill>
              </a:rPr>
              <a:t> The Retention &amp; Management Crisis</a:t>
            </a:r>
          </a:p>
          <a:p>
            <a:pPr algn="ctr">
              <a:buNone/>
            </a:pPr>
            <a:endParaRPr lang="en-IN" b="1" i="1" dirty="0">
              <a:solidFill>
                <a:schemeClr val="bg1"/>
              </a:solidFill>
            </a:endParaRPr>
          </a:p>
          <a:p>
            <a:pPr lvl="1"/>
            <a:r>
              <a:rPr lang="en-IN" sz="1200" i="1" dirty="0">
                <a:solidFill>
                  <a:schemeClr val="bg1"/>
                </a:solidFill>
              </a:rPr>
              <a:t>1: "Attrition looks high overall, but since tenure is also high, it means employees stay long and then leave at similar points—not that they leave quickly."</a:t>
            </a:r>
          </a:p>
          <a:p>
            <a:pPr lvl="1"/>
            <a:r>
              <a:rPr lang="en-IN" sz="1200" i="1" dirty="0">
                <a:solidFill>
                  <a:schemeClr val="bg1"/>
                </a:solidFill>
              </a:rPr>
              <a:t>2: "Longer the years since promotion, higher the attrition rate."</a:t>
            </a:r>
          </a:p>
          <a:p>
            <a:pPr lvl="1"/>
            <a:r>
              <a:rPr lang="en-IN" sz="1200" i="1" dirty="0">
                <a:solidFill>
                  <a:schemeClr val="bg1"/>
                </a:solidFill>
              </a:rPr>
              <a:t>3: "An increase in the number of years with a current manager shows a higher attrition of 53%."</a:t>
            </a:r>
          </a:p>
          <a:p>
            <a:pPr lvl="1"/>
            <a:r>
              <a:rPr lang="en-IN" sz="1200" i="1" dirty="0">
                <a:solidFill>
                  <a:schemeClr val="bg1"/>
                </a:solidFill>
              </a:rPr>
              <a:t>4: "High employee count in early stage of years at company, lower employee count as years increase (9k to 943)."</a:t>
            </a:r>
          </a:p>
          <a:p>
            <a:endParaRPr lang="en-IN" sz="1200" b="1" dirty="0">
              <a:solidFill>
                <a:schemeClr val="bg1"/>
              </a:solidFill>
            </a:endParaRPr>
          </a:p>
          <a:p>
            <a:r>
              <a:rPr lang="en-IN" sz="1200" b="1" dirty="0">
                <a:solidFill>
                  <a:schemeClr val="bg1"/>
                </a:solidFill>
              </a:rPr>
              <a:t>The Deeper Insight</a:t>
            </a:r>
            <a:endParaRPr lang="en-IN" sz="1200" dirty="0">
              <a:solidFill>
                <a:schemeClr val="bg1"/>
              </a:solidFill>
            </a:endParaRPr>
          </a:p>
          <a:p>
            <a:r>
              <a:rPr lang="en-IN" sz="1200" dirty="0">
                <a:solidFill>
                  <a:schemeClr val="bg1"/>
                </a:solidFill>
              </a:rPr>
              <a:t>Company doesn't have a "bad onboarding" problem; it has a </a:t>
            </a:r>
            <a:r>
              <a:rPr lang="en-IN" sz="1200" b="1" dirty="0">
                <a:solidFill>
                  <a:schemeClr val="bg1"/>
                </a:solidFill>
              </a:rPr>
              <a:t>stagnation and manager burnout problem</a:t>
            </a:r>
            <a:r>
              <a:rPr lang="en-IN" sz="1200" dirty="0">
                <a:solidFill>
                  <a:schemeClr val="bg1"/>
                </a:solidFill>
              </a:rPr>
              <a:t>. Employees are willing to stay long-term, but they eventually hit an invisible ceiling. Staying with the same manager for too long increases attrition to 53%, meaning managers are either micromanaging, blocking growth, or failing to challenge their veteran staff. The drop from 9k to 943 employees shows a severe inability to retain people into senior legacy roles.</a:t>
            </a:r>
          </a:p>
          <a:p>
            <a:pPr>
              <a:buFont typeface="Arial" panose="020B0604020202020204" pitchFamily="34" charset="0"/>
              <a:buChar char="•"/>
            </a:pPr>
            <a:endParaRPr lang="en-IN" sz="1200" dirty="0">
              <a:solidFill>
                <a:schemeClr val="bg1"/>
              </a:solidFill>
            </a:endParaRPr>
          </a:p>
          <a:p>
            <a:pPr>
              <a:buFont typeface="Arial" panose="020B0604020202020204" pitchFamily="34" charset="0"/>
              <a:buChar char="•"/>
            </a:pPr>
            <a:endParaRPr lang="en-IN" sz="1200" dirty="0">
              <a:solidFill>
                <a:schemeClr val="bg1"/>
              </a:solidFill>
            </a:endParaRPr>
          </a:p>
          <a:p>
            <a:r>
              <a:rPr lang="en-IN" sz="1200" b="1" dirty="0">
                <a:solidFill>
                  <a:schemeClr val="bg1"/>
                </a:solidFill>
              </a:rPr>
              <a:t>What the Company Should Do</a:t>
            </a:r>
            <a:endParaRPr lang="en-IN" sz="1200" dirty="0">
              <a:solidFill>
                <a:schemeClr val="bg1"/>
              </a:solidFill>
            </a:endParaRPr>
          </a:p>
          <a:p>
            <a:pPr lvl="1"/>
            <a:r>
              <a:rPr lang="en-IN" sz="1200" b="1" dirty="0">
                <a:solidFill>
                  <a:schemeClr val="bg1"/>
                </a:solidFill>
              </a:rPr>
              <a:t>Enforce Manager Rotation or Training:</a:t>
            </a:r>
            <a:r>
              <a:rPr lang="en-IN" sz="1200" dirty="0">
                <a:solidFill>
                  <a:schemeClr val="bg1"/>
                </a:solidFill>
              </a:rPr>
              <a:t> Do not leave employees under the same manager indefinitely. Introduce 360-degree manager reviews to see why long-term reports are fleeing.</a:t>
            </a:r>
          </a:p>
          <a:p>
            <a:pPr lvl="1"/>
            <a:r>
              <a:rPr lang="en-IN" sz="1200" b="1" dirty="0">
                <a:solidFill>
                  <a:schemeClr val="bg1"/>
                </a:solidFill>
              </a:rPr>
              <a:t>Clear Career Pathways:</a:t>
            </a:r>
            <a:r>
              <a:rPr lang="en-IN" sz="1200" dirty="0">
                <a:solidFill>
                  <a:schemeClr val="bg1"/>
                </a:solidFill>
              </a:rPr>
              <a:t> Implement a structured internal mobility program so long-tenured employees can transfer to new departments rather than quitting.</a:t>
            </a:r>
          </a:p>
        </p:txBody>
      </p:sp>
    </p:spTree>
    <p:extLst>
      <p:ext uri="{BB962C8B-B14F-4D97-AF65-F5344CB8AC3E}">
        <p14:creationId xmlns:p14="http://schemas.microsoft.com/office/powerpoint/2010/main" val="323683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0A3C"/>
        </a:solidFill>
        <a:effectLst/>
      </p:bgPr>
    </p:bg>
    <p:spTree>
      <p:nvGrpSpPr>
        <p:cNvPr id="1" name="">
          <a:extLst>
            <a:ext uri="{FF2B5EF4-FFF2-40B4-BE49-F238E27FC236}">
              <a16:creationId xmlns:a16="http://schemas.microsoft.com/office/drawing/2014/main" id="{EABF9456-DB90-5727-9CBE-A4905E7DAD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1E8092A-1FB9-0FD7-6F10-44C7DF75664F}"/>
              </a:ext>
            </a:extLst>
          </p:cNvPr>
          <p:cNvSpPr/>
          <p:nvPr/>
        </p:nvSpPr>
        <p:spPr>
          <a:xfrm>
            <a:off x="0" y="0"/>
            <a:ext cx="9144000" cy="640080"/>
          </a:xfrm>
          <a:prstGeom prst="rect">
            <a:avLst/>
          </a:prstGeom>
          <a:solidFill>
            <a:srgbClr val="5B2D8E"/>
          </a:solidFill>
          <a:ln w="12700">
            <a:solidFill>
              <a:srgbClr val="5B2D8E"/>
            </a:solidFill>
            <a:prstDash val="solid"/>
          </a:ln>
        </p:spPr>
        <p:txBody>
          <a:bodyPr/>
          <a:lstStyle/>
          <a:p>
            <a:endParaRPr lang="en-IN"/>
          </a:p>
        </p:txBody>
      </p:sp>
      <p:sp>
        <p:nvSpPr>
          <p:cNvPr id="3" name="Text 1">
            <a:extLst>
              <a:ext uri="{FF2B5EF4-FFF2-40B4-BE49-F238E27FC236}">
                <a16:creationId xmlns:a16="http://schemas.microsoft.com/office/drawing/2014/main" id="{23E26D0A-D052-02DC-3024-2B760D7F901E}"/>
              </a:ext>
            </a:extLst>
          </p:cNvPr>
          <p:cNvSpPr/>
          <p:nvPr/>
        </p:nvSpPr>
        <p:spPr>
          <a:xfrm>
            <a:off x="365760" y="0"/>
            <a:ext cx="841248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rPr>
              <a:t>Key Focus Area 2</a:t>
            </a:r>
            <a:endParaRPr lang="en-US" sz="2200" dirty="0"/>
          </a:p>
        </p:txBody>
      </p:sp>
      <p:sp>
        <p:nvSpPr>
          <p:cNvPr id="36" name="TextBox 35">
            <a:extLst>
              <a:ext uri="{FF2B5EF4-FFF2-40B4-BE49-F238E27FC236}">
                <a16:creationId xmlns:a16="http://schemas.microsoft.com/office/drawing/2014/main" id="{D0E248FF-0C07-A7BE-2BDD-BDDE643D7682}"/>
              </a:ext>
            </a:extLst>
          </p:cNvPr>
          <p:cNvSpPr txBox="1"/>
          <p:nvPr/>
        </p:nvSpPr>
        <p:spPr>
          <a:xfrm>
            <a:off x="290945" y="775855"/>
            <a:ext cx="8541328" cy="3600986"/>
          </a:xfrm>
          <a:prstGeom prst="rect">
            <a:avLst/>
          </a:prstGeom>
          <a:noFill/>
        </p:spPr>
        <p:txBody>
          <a:bodyPr wrap="square">
            <a:spAutoFit/>
          </a:bodyPr>
          <a:lstStyle/>
          <a:p>
            <a:pPr algn="ctr">
              <a:buNone/>
            </a:pPr>
            <a:r>
              <a:rPr lang="en-IN" b="1" dirty="0">
                <a:solidFill>
                  <a:srgbClr val="CC66FF"/>
                </a:solidFill>
              </a:rPr>
              <a:t> Compensation &amp; Promotion Disconnects</a:t>
            </a:r>
          </a:p>
          <a:p>
            <a:pPr algn="ctr">
              <a:buNone/>
            </a:pPr>
            <a:endParaRPr lang="en-IN" b="1" dirty="0">
              <a:solidFill>
                <a:srgbClr val="CC66FF"/>
              </a:solidFill>
            </a:endParaRPr>
          </a:p>
          <a:p>
            <a:pPr lvl="1"/>
            <a:r>
              <a:rPr lang="en-IN" sz="1200" i="1" dirty="0">
                <a:solidFill>
                  <a:schemeClr val="bg1"/>
                </a:solidFill>
              </a:rPr>
              <a:t>1: “Recently promoted employees earn the most (₹510M total)... as career growth stops, income and involvement drop... a double loss situation."</a:t>
            </a:r>
          </a:p>
          <a:p>
            <a:pPr lvl="1"/>
            <a:r>
              <a:rPr lang="en-IN" sz="1200" i="1" dirty="0">
                <a:solidFill>
                  <a:schemeClr val="bg1"/>
                </a:solidFill>
              </a:rPr>
              <a:t>2: "High attrition seen in associate and senior level employees earning &gt;40k; also senior level show high attrition with monthly income &lt;10k."</a:t>
            </a:r>
          </a:p>
          <a:p>
            <a:endParaRPr lang="en-IN" sz="1200" b="1" dirty="0">
              <a:solidFill>
                <a:schemeClr val="bg1"/>
              </a:solidFill>
            </a:endParaRPr>
          </a:p>
          <a:p>
            <a:r>
              <a:rPr lang="en-IN" sz="1200" b="1" dirty="0">
                <a:solidFill>
                  <a:schemeClr val="bg1"/>
                </a:solidFill>
              </a:rPr>
              <a:t>The Deeper Insight</a:t>
            </a:r>
            <a:endParaRPr lang="en-IN" sz="1200" dirty="0">
              <a:solidFill>
                <a:schemeClr val="bg1"/>
              </a:solidFill>
            </a:endParaRPr>
          </a:p>
          <a:p>
            <a:r>
              <a:rPr lang="en-IN" sz="1200" dirty="0">
                <a:solidFill>
                  <a:schemeClr val="bg1"/>
                </a:solidFill>
              </a:rPr>
              <a:t>The company has a highly reactive, "feast or famine" compensation structure. When people are promoted, they are flooded with cash (₹510M), but once that honeymoon phase ends, they are left to rot. Senior employees are leaving at </a:t>
            </a:r>
            <a:r>
              <a:rPr lang="en-IN" sz="1200" i="1" dirty="0">
                <a:solidFill>
                  <a:schemeClr val="bg1"/>
                </a:solidFill>
              </a:rPr>
              <a:t>both</a:t>
            </a:r>
            <a:r>
              <a:rPr lang="en-IN" sz="1200" dirty="0">
                <a:solidFill>
                  <a:schemeClr val="bg1"/>
                </a:solidFill>
              </a:rPr>
              <a:t> ends of the spectrum: high earners (&gt;40k) feel under-challenged or detached, while low earners (&lt;10k) feel severely underpaid and insulted.</a:t>
            </a:r>
          </a:p>
          <a:p>
            <a:pPr>
              <a:buFont typeface="Arial" panose="020B0604020202020204" pitchFamily="34" charset="0"/>
              <a:buChar char="•"/>
            </a:pPr>
            <a:endParaRPr lang="en-IN" sz="1200" dirty="0">
              <a:solidFill>
                <a:schemeClr val="bg1"/>
              </a:solidFill>
            </a:endParaRPr>
          </a:p>
          <a:p>
            <a:r>
              <a:rPr lang="en-IN" sz="1200" b="1" dirty="0">
                <a:solidFill>
                  <a:schemeClr val="bg1"/>
                </a:solidFill>
              </a:rPr>
              <a:t>What the Company Should Do</a:t>
            </a:r>
          </a:p>
          <a:p>
            <a:pPr lvl="1"/>
            <a:r>
              <a:rPr lang="en-IN" sz="1200" b="1" dirty="0">
                <a:solidFill>
                  <a:schemeClr val="bg1"/>
                </a:solidFill>
              </a:rPr>
              <a:t>Continuous Performance-Based Incentives:</a:t>
            </a:r>
            <a:r>
              <a:rPr lang="en-IN" sz="1200" dirty="0">
                <a:solidFill>
                  <a:schemeClr val="bg1"/>
                </a:solidFill>
              </a:rPr>
              <a:t> Shift away from giant, one-time promotion raises toward smaller, continuous, merit-based quarterly bonuses to keep engagement high.</a:t>
            </a:r>
          </a:p>
          <a:p>
            <a:pPr lvl="1"/>
            <a:r>
              <a:rPr lang="en-IN" sz="1200" b="1" dirty="0">
                <a:solidFill>
                  <a:schemeClr val="bg1"/>
                </a:solidFill>
              </a:rPr>
              <a:t>Fix the Senior Underpayment:</a:t>
            </a:r>
            <a:r>
              <a:rPr lang="en-IN" sz="1200" dirty="0">
                <a:solidFill>
                  <a:schemeClr val="bg1"/>
                </a:solidFill>
              </a:rPr>
              <a:t> Immediately audit and raise the salaries of the senior-level employees earning under 10k to match market standards before they all walk out.</a:t>
            </a:r>
          </a:p>
          <a:p>
            <a:pPr lvl="1"/>
            <a:endParaRPr lang="en-IN" sz="1200" dirty="0">
              <a:solidFill>
                <a:schemeClr val="bg1"/>
              </a:solidFill>
            </a:endParaRPr>
          </a:p>
        </p:txBody>
      </p:sp>
    </p:spTree>
    <p:extLst>
      <p:ext uri="{BB962C8B-B14F-4D97-AF65-F5344CB8AC3E}">
        <p14:creationId xmlns:p14="http://schemas.microsoft.com/office/powerpoint/2010/main" val="2586653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0A3C"/>
        </a:solidFill>
        <a:effectLst/>
      </p:bgPr>
    </p:bg>
    <p:spTree>
      <p:nvGrpSpPr>
        <p:cNvPr id="1" name="">
          <a:extLst>
            <a:ext uri="{FF2B5EF4-FFF2-40B4-BE49-F238E27FC236}">
              <a16:creationId xmlns:a16="http://schemas.microsoft.com/office/drawing/2014/main" id="{37889D5B-38B5-603D-4F1A-CBF9AD9424D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8189338-917E-22E2-A202-5FA41539E6E9}"/>
              </a:ext>
            </a:extLst>
          </p:cNvPr>
          <p:cNvSpPr/>
          <p:nvPr/>
        </p:nvSpPr>
        <p:spPr>
          <a:xfrm>
            <a:off x="0" y="0"/>
            <a:ext cx="9144000" cy="640080"/>
          </a:xfrm>
          <a:prstGeom prst="rect">
            <a:avLst/>
          </a:prstGeom>
          <a:solidFill>
            <a:srgbClr val="5B2D8E"/>
          </a:solidFill>
          <a:ln w="12700">
            <a:solidFill>
              <a:srgbClr val="5B2D8E"/>
            </a:solidFill>
            <a:prstDash val="solid"/>
          </a:ln>
        </p:spPr>
        <p:txBody>
          <a:bodyPr/>
          <a:lstStyle/>
          <a:p>
            <a:endParaRPr lang="en-IN"/>
          </a:p>
        </p:txBody>
      </p:sp>
      <p:sp>
        <p:nvSpPr>
          <p:cNvPr id="3" name="Text 1">
            <a:extLst>
              <a:ext uri="{FF2B5EF4-FFF2-40B4-BE49-F238E27FC236}">
                <a16:creationId xmlns:a16="http://schemas.microsoft.com/office/drawing/2014/main" id="{33EEE013-6F45-E5F6-89A3-417FF5C869EA}"/>
              </a:ext>
            </a:extLst>
          </p:cNvPr>
          <p:cNvSpPr/>
          <p:nvPr/>
        </p:nvSpPr>
        <p:spPr>
          <a:xfrm>
            <a:off x="365760" y="0"/>
            <a:ext cx="841248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rPr>
              <a:t>Key Focus Area 3</a:t>
            </a:r>
            <a:endParaRPr lang="en-US" sz="2200" dirty="0"/>
          </a:p>
        </p:txBody>
      </p:sp>
      <p:sp>
        <p:nvSpPr>
          <p:cNvPr id="36" name="TextBox 35">
            <a:extLst>
              <a:ext uri="{FF2B5EF4-FFF2-40B4-BE49-F238E27FC236}">
                <a16:creationId xmlns:a16="http://schemas.microsoft.com/office/drawing/2014/main" id="{94E5F410-0CD4-E9C9-064B-56C32084013C}"/>
              </a:ext>
            </a:extLst>
          </p:cNvPr>
          <p:cNvSpPr txBox="1"/>
          <p:nvPr/>
        </p:nvSpPr>
        <p:spPr>
          <a:xfrm>
            <a:off x="290945" y="775855"/>
            <a:ext cx="8541328" cy="3600986"/>
          </a:xfrm>
          <a:prstGeom prst="rect">
            <a:avLst/>
          </a:prstGeom>
          <a:noFill/>
        </p:spPr>
        <p:txBody>
          <a:bodyPr wrap="square">
            <a:spAutoFit/>
          </a:bodyPr>
          <a:lstStyle/>
          <a:p>
            <a:pPr algn="ctr">
              <a:buNone/>
            </a:pPr>
            <a:r>
              <a:rPr lang="en-IN" b="1" dirty="0">
                <a:solidFill>
                  <a:srgbClr val="CC66FF"/>
                </a:solidFill>
              </a:rPr>
              <a:t>Work-Life Balance &amp; Burnout Paradoxes</a:t>
            </a:r>
          </a:p>
          <a:p>
            <a:pPr lvl="1" algn="ctr"/>
            <a:endParaRPr lang="en-IN" b="1" i="1" dirty="0">
              <a:solidFill>
                <a:srgbClr val="CC66FF"/>
              </a:solidFill>
            </a:endParaRPr>
          </a:p>
          <a:p>
            <a:pPr lvl="1"/>
            <a:r>
              <a:rPr lang="en-IN" sz="1200" i="1" dirty="0">
                <a:solidFill>
                  <a:schemeClr val="bg1"/>
                </a:solidFill>
              </a:rPr>
              <a:t>1: "Work-life balance is a major issue... Manufacturing Directors and Sales Executives are in the worst shape, Developers are handling it best."</a:t>
            </a:r>
          </a:p>
          <a:p>
            <a:pPr lvl="1"/>
            <a:r>
              <a:rPr lang="en-IN" sz="1200" i="1" dirty="0">
                <a:solidFill>
                  <a:schemeClr val="bg1"/>
                </a:solidFill>
              </a:rPr>
              <a:t>2: "Junior roles show excellent work-life balance but high attrition."</a:t>
            </a:r>
          </a:p>
          <a:p>
            <a:pPr lvl="1"/>
            <a:r>
              <a:rPr lang="en-IN" sz="1200" i="1" dirty="0">
                <a:solidFill>
                  <a:schemeClr val="bg1"/>
                </a:solidFill>
              </a:rPr>
              <a:t>3: "Research Directors have poor/fair work-life balance despite high incomes (26.7K / 24.9K)."</a:t>
            </a:r>
          </a:p>
          <a:p>
            <a:endParaRPr lang="en-IN" sz="1200" b="1" dirty="0">
              <a:solidFill>
                <a:schemeClr val="bg1"/>
              </a:solidFill>
            </a:endParaRPr>
          </a:p>
          <a:p>
            <a:r>
              <a:rPr lang="en-IN" sz="1200" b="1" dirty="0">
                <a:solidFill>
                  <a:schemeClr val="bg1"/>
                </a:solidFill>
              </a:rPr>
              <a:t>The Deeper Insight</a:t>
            </a:r>
            <a:endParaRPr lang="en-IN" sz="1200" dirty="0">
              <a:solidFill>
                <a:schemeClr val="bg1"/>
              </a:solidFill>
            </a:endParaRPr>
          </a:p>
          <a:p>
            <a:r>
              <a:rPr lang="en-IN" sz="1200" dirty="0">
                <a:solidFill>
                  <a:schemeClr val="bg1"/>
                </a:solidFill>
              </a:rPr>
              <a:t>Money cannot buy wellness. Research Directors make great money but are burning out. Meanwhile, junior employees have great work-life balance but </a:t>
            </a:r>
            <a:r>
              <a:rPr lang="en-IN" sz="1200" i="1" dirty="0">
                <a:solidFill>
                  <a:schemeClr val="bg1"/>
                </a:solidFill>
              </a:rPr>
              <a:t>still</a:t>
            </a:r>
            <a:r>
              <a:rPr lang="en-IN" sz="1200" dirty="0">
                <a:solidFill>
                  <a:schemeClr val="bg1"/>
                </a:solidFill>
              </a:rPr>
              <a:t> quit—likely because they feel underutilized, bored, or see no future. Manufacturing and Sales leadership roles are in active crisis.</a:t>
            </a:r>
          </a:p>
          <a:p>
            <a:endParaRPr lang="en-IN" sz="1200" dirty="0">
              <a:solidFill>
                <a:schemeClr val="bg1"/>
              </a:solidFill>
            </a:endParaRPr>
          </a:p>
          <a:p>
            <a:r>
              <a:rPr lang="en-IN" sz="1200" b="1" dirty="0">
                <a:solidFill>
                  <a:schemeClr val="bg1"/>
                </a:solidFill>
              </a:rPr>
              <a:t>What the Company Should Do</a:t>
            </a:r>
          </a:p>
          <a:p>
            <a:pPr lvl="1"/>
            <a:r>
              <a:rPr lang="en-IN" sz="1200" b="1" dirty="0">
                <a:solidFill>
                  <a:schemeClr val="bg1"/>
                </a:solidFill>
              </a:rPr>
              <a:t>Re-structure Manufacturing &amp; Sales Executive Roles:</a:t>
            </a:r>
            <a:r>
              <a:rPr lang="en-IN" sz="1200" dirty="0">
                <a:solidFill>
                  <a:schemeClr val="bg1"/>
                </a:solidFill>
              </a:rPr>
              <a:t> Hire assistant managers or co-directors to split the operational workload in these two high-danger zones.</a:t>
            </a:r>
          </a:p>
          <a:p>
            <a:pPr lvl="1"/>
            <a:r>
              <a:rPr lang="en-IN" sz="1200" b="1" dirty="0">
                <a:solidFill>
                  <a:schemeClr val="bg1"/>
                </a:solidFill>
              </a:rPr>
              <a:t>Engage the Juniors:</a:t>
            </a:r>
            <a:r>
              <a:rPr lang="en-IN" sz="1200" dirty="0">
                <a:solidFill>
                  <a:schemeClr val="bg1"/>
                </a:solidFill>
              </a:rPr>
              <a:t> For junior roles, increase engagement through mentorship programs and skill-building, rather than just giving them "easy, low-pressure hours.”</a:t>
            </a:r>
          </a:p>
          <a:p>
            <a:pPr lvl="1"/>
            <a:endParaRPr lang="en-IN" sz="1200" dirty="0">
              <a:solidFill>
                <a:schemeClr val="bg1"/>
              </a:solidFill>
            </a:endParaRPr>
          </a:p>
        </p:txBody>
      </p:sp>
    </p:spTree>
    <p:extLst>
      <p:ext uri="{BB962C8B-B14F-4D97-AF65-F5344CB8AC3E}">
        <p14:creationId xmlns:p14="http://schemas.microsoft.com/office/powerpoint/2010/main" val="466057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0A3C"/>
        </a:solidFill>
        <a:effectLst/>
      </p:bgPr>
    </p:bg>
    <p:spTree>
      <p:nvGrpSpPr>
        <p:cNvPr id="1" name="">
          <a:extLst>
            <a:ext uri="{FF2B5EF4-FFF2-40B4-BE49-F238E27FC236}">
              <a16:creationId xmlns:a16="http://schemas.microsoft.com/office/drawing/2014/main" id="{C540132F-715A-E4BD-8924-7637D1CC5D7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1BFA041-B75D-7853-7CAF-B9F3729DB5E2}"/>
              </a:ext>
            </a:extLst>
          </p:cNvPr>
          <p:cNvSpPr/>
          <p:nvPr/>
        </p:nvSpPr>
        <p:spPr>
          <a:xfrm>
            <a:off x="0" y="0"/>
            <a:ext cx="9144000" cy="640080"/>
          </a:xfrm>
          <a:prstGeom prst="rect">
            <a:avLst/>
          </a:prstGeom>
          <a:solidFill>
            <a:srgbClr val="5B2D8E"/>
          </a:solidFill>
          <a:ln w="12700">
            <a:solidFill>
              <a:srgbClr val="5B2D8E"/>
            </a:solidFill>
            <a:prstDash val="solid"/>
          </a:ln>
        </p:spPr>
        <p:txBody>
          <a:bodyPr/>
          <a:lstStyle/>
          <a:p>
            <a:endParaRPr lang="en-IN"/>
          </a:p>
        </p:txBody>
      </p:sp>
      <p:sp>
        <p:nvSpPr>
          <p:cNvPr id="3" name="Text 1">
            <a:extLst>
              <a:ext uri="{FF2B5EF4-FFF2-40B4-BE49-F238E27FC236}">
                <a16:creationId xmlns:a16="http://schemas.microsoft.com/office/drawing/2014/main" id="{B0693F65-2E0F-6B15-95E3-C9628C10E76E}"/>
              </a:ext>
            </a:extLst>
          </p:cNvPr>
          <p:cNvSpPr/>
          <p:nvPr/>
        </p:nvSpPr>
        <p:spPr>
          <a:xfrm>
            <a:off x="365760" y="0"/>
            <a:ext cx="841248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rPr>
              <a:t>Key Focus Area 4</a:t>
            </a:r>
            <a:endParaRPr lang="en-US" sz="2200" dirty="0"/>
          </a:p>
        </p:txBody>
      </p:sp>
      <p:sp>
        <p:nvSpPr>
          <p:cNvPr id="36" name="TextBox 35">
            <a:extLst>
              <a:ext uri="{FF2B5EF4-FFF2-40B4-BE49-F238E27FC236}">
                <a16:creationId xmlns:a16="http://schemas.microsoft.com/office/drawing/2014/main" id="{5FA375FD-BDFE-7593-4813-A3074DED4409}"/>
              </a:ext>
            </a:extLst>
          </p:cNvPr>
          <p:cNvSpPr txBox="1"/>
          <p:nvPr/>
        </p:nvSpPr>
        <p:spPr>
          <a:xfrm>
            <a:off x="290945" y="775855"/>
            <a:ext cx="8541328" cy="3877985"/>
          </a:xfrm>
          <a:prstGeom prst="rect">
            <a:avLst/>
          </a:prstGeom>
          <a:noFill/>
        </p:spPr>
        <p:txBody>
          <a:bodyPr wrap="square">
            <a:spAutoFit/>
          </a:bodyPr>
          <a:lstStyle/>
          <a:p>
            <a:pPr lvl="1" algn="ctr"/>
            <a:r>
              <a:rPr lang="en-IN" b="1" dirty="0">
                <a:solidFill>
                  <a:srgbClr val="CC66FF"/>
                </a:solidFill>
              </a:rPr>
              <a:t>Department Performance, Satisfaction, &amp; Training</a:t>
            </a:r>
          </a:p>
          <a:p>
            <a:endParaRPr lang="en-IN" sz="1200" b="1" i="1" dirty="0">
              <a:solidFill>
                <a:schemeClr val="bg1"/>
              </a:solidFill>
            </a:endParaRPr>
          </a:p>
          <a:p>
            <a:pPr lvl="1"/>
            <a:r>
              <a:rPr lang="en-IN" sz="1200" i="1" dirty="0">
                <a:solidFill>
                  <a:schemeClr val="bg1"/>
                </a:solidFill>
              </a:rPr>
              <a:t>1: "R&amp;D shows highest attrition + highest job dissatisfaction; Software is next. Hardware has the lowest attrition (51.2% vs 49.4%)."</a:t>
            </a:r>
          </a:p>
          <a:p>
            <a:pPr lvl="1"/>
            <a:r>
              <a:rPr lang="en-IN" sz="1200" i="1" dirty="0">
                <a:solidFill>
                  <a:schemeClr val="bg1"/>
                </a:solidFill>
              </a:rPr>
              <a:t>2: "Sales shows high job satisfaction but also high attrition."</a:t>
            </a:r>
          </a:p>
          <a:p>
            <a:pPr lvl="1"/>
            <a:r>
              <a:rPr lang="en-IN" sz="1200" i="1" dirty="0">
                <a:solidFill>
                  <a:schemeClr val="bg1"/>
                </a:solidFill>
              </a:rPr>
              <a:t>3: "Hardware has high tenure (20.74 yrs) but very low performance; Sales has high performance and high tenure (20.8 yrs)."</a:t>
            </a:r>
          </a:p>
          <a:p>
            <a:pPr lvl="1"/>
            <a:r>
              <a:rPr lang="en-IN" sz="1200" i="1" dirty="0">
                <a:solidFill>
                  <a:schemeClr val="bg1"/>
                </a:solidFill>
              </a:rPr>
              <a:t>4: "Highly trained employees earn slightly more (26.1K vs 25.9K) in Hardware, Sales, and Software."</a:t>
            </a:r>
          </a:p>
          <a:p>
            <a:pPr lvl="1"/>
            <a:endParaRPr lang="en-IN" sz="1200" b="1" dirty="0">
              <a:solidFill>
                <a:schemeClr val="bg1"/>
              </a:solidFill>
            </a:endParaRPr>
          </a:p>
          <a:p>
            <a:r>
              <a:rPr lang="en-IN" sz="1200" b="1" dirty="0">
                <a:solidFill>
                  <a:schemeClr val="bg1"/>
                </a:solidFill>
              </a:rPr>
              <a:t>The Deeper Insight</a:t>
            </a:r>
            <a:endParaRPr lang="en-IN" sz="1200" dirty="0">
              <a:solidFill>
                <a:schemeClr val="bg1"/>
              </a:solidFill>
            </a:endParaRPr>
          </a:p>
          <a:p>
            <a:r>
              <a:rPr lang="en-IN" sz="1200" dirty="0">
                <a:solidFill>
                  <a:schemeClr val="bg1"/>
                </a:solidFill>
              </a:rPr>
              <a:t>This reveals distinct department cultures. </a:t>
            </a:r>
            <a:r>
              <a:rPr lang="en-IN" sz="1200" b="1" dirty="0">
                <a:solidFill>
                  <a:schemeClr val="bg1"/>
                </a:solidFill>
              </a:rPr>
              <a:t>R&amp;D and Software</a:t>
            </a:r>
            <a:r>
              <a:rPr lang="en-IN" sz="1200" dirty="0">
                <a:solidFill>
                  <a:schemeClr val="bg1"/>
                </a:solidFill>
              </a:rPr>
              <a:t> are toxic or deeply frustrating environments (high dissatisfaction). </a:t>
            </a:r>
            <a:r>
              <a:rPr lang="en-IN" sz="1200" b="1" dirty="0">
                <a:solidFill>
                  <a:schemeClr val="bg1"/>
                </a:solidFill>
              </a:rPr>
              <a:t>Sales</a:t>
            </a:r>
            <a:r>
              <a:rPr lang="en-IN" sz="1200" dirty="0">
                <a:solidFill>
                  <a:schemeClr val="bg1"/>
                </a:solidFill>
              </a:rPr>
              <a:t> is a high-octane "churn and burn" culture—employees love the job and perform incredibly well, but likely quit due to aggressive targets. </a:t>
            </a:r>
            <a:r>
              <a:rPr lang="en-IN" sz="1200" b="1" dirty="0">
                <a:solidFill>
                  <a:schemeClr val="bg1"/>
                </a:solidFill>
              </a:rPr>
              <a:t>Hardware</a:t>
            </a:r>
            <a:r>
              <a:rPr lang="en-IN" sz="1200" dirty="0">
                <a:solidFill>
                  <a:schemeClr val="bg1"/>
                </a:solidFill>
              </a:rPr>
              <a:t> is a "retirement home"—people stay forever (20.74 yrs) because it’s safe, but they are completely unproductive.</a:t>
            </a:r>
          </a:p>
          <a:p>
            <a:endParaRPr lang="en-IN" sz="1200" dirty="0">
              <a:solidFill>
                <a:schemeClr val="bg1"/>
              </a:solidFill>
            </a:endParaRPr>
          </a:p>
          <a:p>
            <a:r>
              <a:rPr lang="en-IN" sz="1200" b="1" dirty="0">
                <a:solidFill>
                  <a:schemeClr val="bg1"/>
                </a:solidFill>
              </a:rPr>
              <a:t>What the Company Should Do</a:t>
            </a:r>
          </a:p>
          <a:p>
            <a:pPr lvl="1"/>
            <a:r>
              <a:rPr lang="en-IN" sz="1200" b="1" dirty="0">
                <a:solidFill>
                  <a:schemeClr val="bg1"/>
                </a:solidFill>
              </a:rPr>
              <a:t>R&amp;D/Software Intervention:</a:t>
            </a:r>
            <a:r>
              <a:rPr lang="en-IN" sz="1200" dirty="0">
                <a:solidFill>
                  <a:schemeClr val="bg1"/>
                </a:solidFill>
              </a:rPr>
              <a:t> Conduct an anonymous culture audit in R&amp;D to figure out why they are so deeply unhappy.</a:t>
            </a:r>
          </a:p>
          <a:p>
            <a:pPr lvl="1"/>
            <a:r>
              <a:rPr lang="en-IN" sz="1200" b="1" dirty="0">
                <a:solidFill>
                  <a:schemeClr val="bg1"/>
                </a:solidFill>
              </a:rPr>
              <a:t>Hardware Performance Push:</a:t>
            </a:r>
            <a:r>
              <a:rPr lang="en-IN" sz="1200" dirty="0">
                <a:solidFill>
                  <a:schemeClr val="bg1"/>
                </a:solidFill>
              </a:rPr>
              <a:t> Introduce strict KPIs and performance-improvement plans (PIPs) in the Hardware department to wake up the low performers.</a:t>
            </a:r>
          </a:p>
          <a:p>
            <a:pPr lvl="1"/>
            <a:r>
              <a:rPr lang="en-IN" sz="1200" b="1" dirty="0">
                <a:solidFill>
                  <a:schemeClr val="bg1"/>
                </a:solidFill>
              </a:rPr>
              <a:t>Sales Retention:</a:t>
            </a:r>
            <a:r>
              <a:rPr lang="en-IN" sz="1200" dirty="0">
                <a:solidFill>
                  <a:schemeClr val="bg1"/>
                </a:solidFill>
              </a:rPr>
              <a:t> Introduce retention bonuses or loyalty perks in Sales to keep these high-performing, happy employees from jumping to competitors.</a:t>
            </a:r>
          </a:p>
          <a:p>
            <a:pPr lvl="1"/>
            <a:endParaRPr lang="en-IN" sz="1200" dirty="0">
              <a:solidFill>
                <a:schemeClr val="bg1"/>
              </a:solidFill>
            </a:endParaRPr>
          </a:p>
        </p:txBody>
      </p:sp>
    </p:spTree>
    <p:extLst>
      <p:ext uri="{BB962C8B-B14F-4D97-AF65-F5344CB8AC3E}">
        <p14:creationId xmlns:p14="http://schemas.microsoft.com/office/powerpoint/2010/main" val="405639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0A3C"/>
        </a:solidFill>
        <a:effectLst/>
      </p:bgPr>
    </p:bg>
    <p:spTree>
      <p:nvGrpSpPr>
        <p:cNvPr id="1" name="">
          <a:extLst>
            <a:ext uri="{FF2B5EF4-FFF2-40B4-BE49-F238E27FC236}">
              <a16:creationId xmlns:a16="http://schemas.microsoft.com/office/drawing/2014/main" id="{1D92BD4D-70EB-665E-6267-708BB4EFBA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8324452-8F59-92EE-1440-B2993C37930D}"/>
              </a:ext>
            </a:extLst>
          </p:cNvPr>
          <p:cNvSpPr/>
          <p:nvPr/>
        </p:nvSpPr>
        <p:spPr>
          <a:xfrm>
            <a:off x="0" y="0"/>
            <a:ext cx="9144000" cy="640080"/>
          </a:xfrm>
          <a:prstGeom prst="rect">
            <a:avLst/>
          </a:prstGeom>
          <a:solidFill>
            <a:srgbClr val="5B2D8E"/>
          </a:solidFill>
          <a:ln w="12700">
            <a:solidFill>
              <a:srgbClr val="5B2D8E"/>
            </a:solidFill>
            <a:prstDash val="solid"/>
          </a:ln>
        </p:spPr>
        <p:txBody>
          <a:bodyPr/>
          <a:lstStyle/>
          <a:p>
            <a:endParaRPr lang="en-IN"/>
          </a:p>
        </p:txBody>
      </p:sp>
      <p:sp>
        <p:nvSpPr>
          <p:cNvPr id="3" name="Text 1">
            <a:extLst>
              <a:ext uri="{FF2B5EF4-FFF2-40B4-BE49-F238E27FC236}">
                <a16:creationId xmlns:a16="http://schemas.microsoft.com/office/drawing/2014/main" id="{9142D574-1DE3-91E0-EFEC-9B1DCCE68860}"/>
              </a:ext>
            </a:extLst>
          </p:cNvPr>
          <p:cNvSpPr/>
          <p:nvPr/>
        </p:nvSpPr>
        <p:spPr>
          <a:xfrm>
            <a:off x="365760" y="0"/>
            <a:ext cx="841248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rPr>
              <a:t>Key Focus Area 5</a:t>
            </a:r>
            <a:endParaRPr lang="en-US" sz="2200" dirty="0"/>
          </a:p>
        </p:txBody>
      </p:sp>
      <p:sp>
        <p:nvSpPr>
          <p:cNvPr id="36" name="TextBox 35">
            <a:extLst>
              <a:ext uri="{FF2B5EF4-FFF2-40B4-BE49-F238E27FC236}">
                <a16:creationId xmlns:a16="http://schemas.microsoft.com/office/drawing/2014/main" id="{3ACBEC16-F6F2-BCBB-9E69-8FFD266A9EAA}"/>
              </a:ext>
            </a:extLst>
          </p:cNvPr>
          <p:cNvSpPr txBox="1"/>
          <p:nvPr/>
        </p:nvSpPr>
        <p:spPr>
          <a:xfrm>
            <a:off x="290945" y="775855"/>
            <a:ext cx="8541328" cy="3693319"/>
          </a:xfrm>
          <a:prstGeom prst="rect">
            <a:avLst/>
          </a:prstGeom>
          <a:noFill/>
        </p:spPr>
        <p:txBody>
          <a:bodyPr wrap="square">
            <a:spAutoFit/>
          </a:bodyPr>
          <a:lstStyle/>
          <a:p>
            <a:pPr algn="ctr"/>
            <a:r>
              <a:rPr lang="en-IN" b="1" dirty="0">
                <a:solidFill>
                  <a:srgbClr val="CC66FF"/>
                </a:solidFill>
              </a:rPr>
              <a:t>Demographics, Gender, &amp; Education</a:t>
            </a:r>
            <a:endParaRPr lang="en-IN" b="1" i="1" dirty="0">
              <a:solidFill>
                <a:srgbClr val="CC66FF"/>
              </a:solidFill>
            </a:endParaRPr>
          </a:p>
          <a:p>
            <a:pPr lvl="1"/>
            <a:endParaRPr lang="en-IN" sz="1200" b="1" dirty="0">
              <a:solidFill>
                <a:schemeClr val="bg1"/>
              </a:solidFill>
            </a:endParaRPr>
          </a:p>
          <a:p>
            <a:pPr lvl="1"/>
            <a:r>
              <a:rPr lang="en-IN" sz="1200" i="1" dirty="0">
                <a:solidFill>
                  <a:schemeClr val="bg1"/>
                </a:solidFill>
              </a:rPr>
              <a:t>1: "Strong gender balance overall, Male slightly high (49.8% vs 50%)."</a:t>
            </a:r>
          </a:p>
          <a:p>
            <a:pPr lvl="1"/>
            <a:r>
              <a:rPr lang="en-IN" sz="1200" i="1" dirty="0">
                <a:solidFill>
                  <a:schemeClr val="bg1"/>
                </a:solidFill>
              </a:rPr>
              <a:t>2: "High male count in HR, Sales, Support (4.24K); High female count in HR, R&amp;D, Sales, Software (4.2K)."</a:t>
            </a:r>
          </a:p>
          <a:p>
            <a:pPr lvl="1"/>
            <a:r>
              <a:rPr lang="en-IN" sz="1200" i="1" dirty="0">
                <a:solidFill>
                  <a:schemeClr val="bg1"/>
                </a:solidFill>
              </a:rPr>
              <a:t>3: "Highest employee count under age 35-50; &lt;25 shows very low count."</a:t>
            </a:r>
          </a:p>
          <a:p>
            <a:pPr lvl="1"/>
            <a:r>
              <a:rPr lang="en-IN" sz="1200" i="1" dirty="0">
                <a:solidFill>
                  <a:schemeClr val="bg1"/>
                </a:solidFill>
              </a:rPr>
              <a:t>4: "Medical education field shows higher monthly income (222.8M) vs HR field (213M)."</a:t>
            </a:r>
          </a:p>
          <a:p>
            <a:pPr lvl="1"/>
            <a:r>
              <a:rPr lang="en-IN" sz="1200" i="1" dirty="0">
                <a:solidFill>
                  <a:schemeClr val="bg1"/>
                </a:solidFill>
              </a:rPr>
              <a:t>5: "Hourly wages: Female Research Directors/Healthcare Reps lean higher (116.2); Male Lab Techs/HR Reps lean higher (117.3)."</a:t>
            </a:r>
          </a:p>
          <a:p>
            <a:pPr lvl="1"/>
            <a:endParaRPr lang="en-IN" sz="1200" b="1" dirty="0">
              <a:solidFill>
                <a:schemeClr val="bg1"/>
              </a:solidFill>
            </a:endParaRPr>
          </a:p>
          <a:p>
            <a:r>
              <a:rPr lang="en-IN" sz="1200" b="1" dirty="0">
                <a:solidFill>
                  <a:schemeClr val="bg1"/>
                </a:solidFill>
              </a:rPr>
              <a:t>The Deeper Insight</a:t>
            </a:r>
            <a:endParaRPr lang="en-IN" sz="1200" dirty="0">
              <a:solidFill>
                <a:schemeClr val="bg1"/>
              </a:solidFill>
            </a:endParaRPr>
          </a:p>
          <a:p>
            <a:r>
              <a:rPr lang="en-IN" sz="1200" dirty="0">
                <a:solidFill>
                  <a:schemeClr val="bg1"/>
                </a:solidFill>
              </a:rPr>
              <a:t>While overall gender metrics look balanced, company has an </a:t>
            </a:r>
            <a:r>
              <a:rPr lang="en-IN" sz="1200" b="1" dirty="0">
                <a:solidFill>
                  <a:schemeClr val="bg1"/>
                </a:solidFill>
              </a:rPr>
              <a:t>aging workforce risk</a:t>
            </a:r>
            <a:r>
              <a:rPr lang="en-IN" sz="1200" dirty="0">
                <a:solidFill>
                  <a:schemeClr val="bg1"/>
                </a:solidFill>
              </a:rPr>
              <a:t>. Having very few employees under 25 means there is no "pipeline" of young talent being groomed to replace the massive 35-50 age bracket when they retire or quit. Pay gaps are role-specific rather than company-wide.</a:t>
            </a:r>
          </a:p>
          <a:p>
            <a:endParaRPr lang="en-IN" sz="1200" dirty="0">
              <a:solidFill>
                <a:schemeClr val="bg1"/>
              </a:solidFill>
            </a:endParaRPr>
          </a:p>
          <a:p>
            <a:r>
              <a:rPr lang="en-IN" sz="1200" b="1" dirty="0">
                <a:solidFill>
                  <a:schemeClr val="bg1"/>
                </a:solidFill>
              </a:rPr>
              <a:t>What the Company Should Do</a:t>
            </a:r>
          </a:p>
          <a:p>
            <a:pPr lvl="1"/>
            <a:r>
              <a:rPr lang="en-IN" sz="1200" b="1" dirty="0">
                <a:solidFill>
                  <a:schemeClr val="bg1"/>
                </a:solidFill>
              </a:rPr>
              <a:t>Launch a University/Graduate Recruitment Drive:</a:t>
            </a:r>
            <a:r>
              <a:rPr lang="en-IN" sz="1200" dirty="0">
                <a:solidFill>
                  <a:schemeClr val="bg1"/>
                </a:solidFill>
              </a:rPr>
              <a:t> Focus heavily on hiring and training the under-25 demographic to future-proof the company.</a:t>
            </a:r>
          </a:p>
          <a:p>
            <a:pPr lvl="1"/>
            <a:r>
              <a:rPr lang="en-IN" sz="1200" b="1" dirty="0">
                <a:solidFill>
                  <a:schemeClr val="bg1"/>
                </a:solidFill>
              </a:rPr>
              <a:t>Standardize Hourly Pay Bands:</a:t>
            </a:r>
            <a:r>
              <a:rPr lang="en-IN" sz="1200" dirty="0">
                <a:solidFill>
                  <a:schemeClr val="bg1"/>
                </a:solidFill>
              </a:rPr>
              <a:t> Formalize the pay scales for Lab Techs, Research Directors, and HR Reps to ensure absolute equity, eliminating the slight gender-based wage skews.</a:t>
            </a:r>
          </a:p>
          <a:p>
            <a:pPr lvl="1"/>
            <a:endParaRPr lang="en-IN" sz="1200" dirty="0">
              <a:solidFill>
                <a:schemeClr val="bg1"/>
              </a:solidFill>
            </a:endParaRPr>
          </a:p>
        </p:txBody>
      </p:sp>
    </p:spTree>
    <p:extLst>
      <p:ext uri="{BB962C8B-B14F-4D97-AF65-F5344CB8AC3E}">
        <p14:creationId xmlns:p14="http://schemas.microsoft.com/office/powerpoint/2010/main" val="5871402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6858000" y="-1097280"/>
            <a:ext cx="4572000" cy="4572000"/>
          </a:xfrm>
          <a:prstGeom prst="ellipse">
            <a:avLst/>
          </a:prstGeom>
          <a:solidFill>
            <a:srgbClr val="5B2D8E">
              <a:alpha val="35000"/>
            </a:srgbClr>
          </a:solidFill>
          <a:ln w="12700">
            <a:solidFill>
              <a:srgbClr val="5B2D8E">
                <a:alpha val="35000"/>
              </a:srgbClr>
            </a:solidFill>
            <a:prstDash val="solid"/>
          </a:ln>
        </p:spPr>
        <p:txBody>
          <a:bodyPr/>
          <a:lstStyle/>
          <a:p>
            <a:endParaRPr lang="en-IN"/>
          </a:p>
        </p:txBody>
      </p:sp>
      <p:sp>
        <p:nvSpPr>
          <p:cNvPr id="3" name="Shape 1"/>
          <p:cNvSpPr/>
          <p:nvPr/>
        </p:nvSpPr>
        <p:spPr>
          <a:xfrm>
            <a:off x="-1371600" y="2286000"/>
            <a:ext cx="3657600" cy="3657600"/>
          </a:xfrm>
          <a:prstGeom prst="ellipse">
            <a:avLst/>
          </a:prstGeom>
          <a:solidFill>
            <a:srgbClr val="3D1A7F">
              <a:alpha val="45000"/>
            </a:srgbClr>
          </a:solidFill>
          <a:ln w="12700">
            <a:solidFill>
              <a:srgbClr val="3D1A7F">
                <a:alpha val="45000"/>
              </a:srgbClr>
            </a:solidFill>
            <a:prstDash val="solid"/>
          </a:ln>
        </p:spPr>
        <p:txBody>
          <a:bodyPr/>
          <a:lstStyle/>
          <a:p>
            <a:endParaRPr lang="en-IN"/>
          </a:p>
        </p:txBody>
      </p:sp>
      <p:sp>
        <p:nvSpPr>
          <p:cNvPr id="5" name="Text 3"/>
          <p:cNvSpPr/>
          <p:nvPr/>
        </p:nvSpPr>
        <p:spPr>
          <a:xfrm>
            <a:off x="2577465" y="1874520"/>
            <a:ext cx="8046720" cy="822960"/>
          </a:xfrm>
          <a:prstGeom prst="rect">
            <a:avLst/>
          </a:prstGeom>
          <a:noFill/>
          <a:ln/>
        </p:spPr>
        <p:txBody>
          <a:bodyPr wrap="square" lIns="0" tIns="0" rIns="0" bIns="0" rtlCol="0" anchor="ctr"/>
          <a:lstStyle/>
          <a:p>
            <a:pPr marL="0" indent="0">
              <a:buNone/>
            </a:pPr>
            <a:r>
              <a:rPr lang="en-US" sz="5200" b="1" kern="0" spc="600" dirty="0">
                <a:solidFill>
                  <a:srgbClr val="FFD700"/>
                </a:solidFill>
                <a:latin typeface="Trebuchet MS" pitchFamily="34" charset="0"/>
                <a:ea typeface="Trebuchet MS" pitchFamily="34" charset="-122"/>
                <a:cs typeface="Trebuchet MS" pitchFamily="34" charset="-120"/>
              </a:rPr>
              <a:t>Thank You.</a:t>
            </a:r>
            <a:endParaRPr lang="en-US" sz="5200" dirty="0"/>
          </a:p>
        </p:txBody>
      </p:sp>
      <p:sp>
        <p:nvSpPr>
          <p:cNvPr id="19" name="Text 17"/>
          <p:cNvSpPr/>
          <p:nvPr/>
        </p:nvSpPr>
        <p:spPr>
          <a:xfrm>
            <a:off x="0" y="4846320"/>
            <a:ext cx="9144000" cy="274320"/>
          </a:xfrm>
          <a:prstGeom prst="rect">
            <a:avLst/>
          </a:prstGeom>
          <a:noFill/>
          <a:ln/>
        </p:spPr>
        <p:txBody>
          <a:bodyPr wrap="square" lIns="0" tIns="0" rIns="0" bIns="0" rtlCol="0" anchor="ctr"/>
          <a:lstStyle/>
          <a:p>
            <a:pPr marL="0" indent="0" algn="ctr">
              <a:buNone/>
            </a:pPr>
            <a:r>
              <a:rPr lang="en-US" sz="1100" i="1" dirty="0">
                <a:solidFill>
                  <a:srgbClr val="7B6B9E"/>
                </a:solidFill>
                <a:latin typeface="Calibri" pitchFamily="34" charset="0"/>
                <a:ea typeface="Calibri" pitchFamily="34" charset="-122"/>
                <a:cs typeface="Calibri" pitchFamily="34" charset="-120"/>
              </a:rPr>
              <a:t>MySQL  ·  Microsoft Excel  ·  Power BI  ·  Tableau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1307</TotalTime>
  <Words>2090</Words>
  <Application>Microsoft Office PowerPoint</Application>
  <PresentationFormat>On-screen Show (16:9)</PresentationFormat>
  <Paragraphs>252</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Analytics – End to End Data Journey</dc:title>
  <dc:subject>PptxGenJS Presentation</dc:subject>
  <dc:creator>HR Analytics Team</dc:creator>
  <cp:lastModifiedBy>Meghana A</cp:lastModifiedBy>
  <cp:revision>8</cp:revision>
  <dcterms:created xsi:type="dcterms:W3CDTF">2026-05-30T13:35:55Z</dcterms:created>
  <dcterms:modified xsi:type="dcterms:W3CDTF">2026-06-04T03:32:36Z</dcterms:modified>
</cp:coreProperties>
</file>